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4" r:id="rId2"/>
    <p:sldId id="256" r:id="rId3"/>
    <p:sldId id="257" r:id="rId4"/>
    <p:sldId id="276" r:id="rId5"/>
    <p:sldId id="277" r:id="rId6"/>
    <p:sldId id="258" r:id="rId7"/>
    <p:sldId id="259" r:id="rId8"/>
    <p:sldId id="260" r:id="rId9"/>
    <p:sldId id="261" r:id="rId10"/>
    <p:sldId id="282" r:id="rId11"/>
    <p:sldId id="283" r:id="rId12"/>
    <p:sldId id="262" r:id="rId13"/>
    <p:sldId id="266" r:id="rId14"/>
    <p:sldId id="267" r:id="rId15"/>
    <p:sldId id="263" r:id="rId16"/>
    <p:sldId id="273" r:id="rId17"/>
    <p:sldId id="285" r:id="rId18"/>
    <p:sldId id="286" r:id="rId19"/>
    <p:sldId id="274" r:id="rId20"/>
    <p:sldId id="275" r:id="rId21"/>
    <p:sldId id="280" r:id="rId22"/>
    <p:sldId id="265" r:id="rId23"/>
    <p:sldId id="269" r:id="rId24"/>
    <p:sldId id="270" r:id="rId25"/>
    <p:sldId id="271" r:id="rId26"/>
    <p:sldId id="264"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763000" cy="6858000"/>
          </a:xfrm>
        </p:spPr>
        <p:txBody>
          <a:bodyPr>
            <a:normAutofit/>
          </a:bodyPr>
          <a:lstStyle/>
          <a:p>
            <a:r>
              <a:rPr lang="en-US" b="1" dirty="0" smtClean="0"/>
              <a:t>A Comprehensive Review Of Cryptographic Techniques In Federated Learning For Secure Data</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0"/>
            <a:ext cx="3733800" cy="609600"/>
          </a:xfrm>
        </p:spPr>
        <p:txBody>
          <a:bodyPr>
            <a:normAutofit fontScale="90000"/>
          </a:bodyPr>
          <a:lstStyle/>
          <a:p>
            <a:pPr algn="l"/>
            <a:r>
              <a:rPr lang="en-US" dirty="0" smtClean="0"/>
              <a:t>Abstract</a:t>
            </a:r>
            <a:endParaRPr lang="en-US" dirty="0"/>
          </a:p>
        </p:txBody>
      </p:sp>
      <p:sp>
        <p:nvSpPr>
          <p:cNvPr id="3" name="Subtitle 2"/>
          <p:cNvSpPr>
            <a:spLocks noGrp="1"/>
          </p:cNvSpPr>
          <p:nvPr>
            <p:ph type="subTitle" idx="1"/>
          </p:nvPr>
        </p:nvSpPr>
        <p:spPr>
          <a:xfrm>
            <a:off x="304800" y="990600"/>
            <a:ext cx="8686800" cy="5410200"/>
          </a:xfrm>
        </p:spPr>
        <p:txBody>
          <a:bodyPr>
            <a:normAutofit fontScale="70000" lnSpcReduction="20000"/>
          </a:bodyPr>
          <a:lstStyle/>
          <a:p>
            <a:pPr algn="just">
              <a:buFont typeface="Arial" pitchFamily="34" charset="0"/>
              <a:buChar char="•"/>
            </a:pPr>
            <a:r>
              <a:rPr lang="en-US" sz="2400" dirty="0" smtClean="0">
                <a:solidFill>
                  <a:schemeClr val="tx1"/>
                </a:solidFill>
              </a:rPr>
              <a:t>Federated Learning (FL) has gained significant attention as a distributed machine learning paradigm that enables collaborative model training while keeping sensitive data localized at client devices. </a:t>
            </a:r>
            <a:endParaRPr lang="en-US" sz="2400" dirty="0" smtClean="0">
              <a:solidFill>
                <a:schemeClr val="tx1"/>
              </a:solidFill>
            </a:endParaRPr>
          </a:p>
          <a:p>
            <a:pPr algn="just">
              <a:buFont typeface="Arial" pitchFamily="34" charset="0"/>
              <a:buChar char="•"/>
            </a:pPr>
            <a:r>
              <a:rPr lang="en-US" sz="2400" dirty="0" smtClean="0">
                <a:solidFill>
                  <a:schemeClr val="tx1"/>
                </a:solidFill>
              </a:rPr>
              <a:t>Although </a:t>
            </a:r>
            <a:r>
              <a:rPr lang="en-US" sz="2400" dirty="0" smtClean="0">
                <a:solidFill>
                  <a:schemeClr val="tx1"/>
                </a:solidFill>
              </a:rPr>
              <a:t>FL reduces the risks associated with centralized data collection, it does not inherently ensure complete data privacy or security, as shared model updates can still leak sensitive information and are vulnerable to adversarial attacks. </a:t>
            </a:r>
            <a:endParaRPr lang="en-US" sz="2400" dirty="0" smtClean="0">
              <a:solidFill>
                <a:schemeClr val="tx1"/>
              </a:solidFill>
            </a:endParaRPr>
          </a:p>
          <a:p>
            <a:pPr algn="just">
              <a:buFont typeface="Arial" pitchFamily="34" charset="0"/>
              <a:buChar char="•"/>
            </a:pPr>
            <a:r>
              <a:rPr lang="en-US" sz="2400" dirty="0" smtClean="0">
                <a:solidFill>
                  <a:schemeClr val="tx1"/>
                </a:solidFill>
              </a:rPr>
              <a:t>To </a:t>
            </a:r>
            <a:r>
              <a:rPr lang="en-US" sz="2400" dirty="0" smtClean="0">
                <a:solidFill>
                  <a:schemeClr val="tx1"/>
                </a:solidFill>
              </a:rPr>
              <a:t>mitigate these risks, a variety of cryptographic techniques have been integrated into federated learning frameworks, including secure aggregation, </a:t>
            </a:r>
            <a:r>
              <a:rPr lang="en-US" sz="2400" dirty="0" err="1" smtClean="0">
                <a:solidFill>
                  <a:schemeClr val="tx1"/>
                </a:solidFill>
              </a:rPr>
              <a:t>homomorphic</a:t>
            </a:r>
            <a:r>
              <a:rPr lang="en-US" sz="2400" dirty="0" smtClean="0">
                <a:solidFill>
                  <a:schemeClr val="tx1"/>
                </a:solidFill>
              </a:rPr>
              <a:t> encryption, secure multiparty computation, differential privacy, and </a:t>
            </a:r>
            <a:r>
              <a:rPr lang="en-US" sz="2400" dirty="0" err="1" smtClean="0">
                <a:solidFill>
                  <a:schemeClr val="tx1"/>
                </a:solidFill>
              </a:rPr>
              <a:t>blockchain</a:t>
            </a:r>
            <a:r>
              <a:rPr lang="en-US" sz="2400" dirty="0" smtClean="0">
                <a:solidFill>
                  <a:schemeClr val="tx1"/>
                </a:solidFill>
              </a:rPr>
              <a:t>-based security mechanisms</a:t>
            </a:r>
            <a:r>
              <a:rPr lang="en-US" sz="2400" dirty="0" smtClean="0">
                <a:solidFill>
                  <a:schemeClr val="tx1"/>
                </a:solidFill>
              </a:rPr>
              <a:t>.</a:t>
            </a:r>
          </a:p>
          <a:p>
            <a:pPr algn="just">
              <a:buFont typeface="Arial" pitchFamily="34" charset="0"/>
              <a:buChar char="•"/>
            </a:pPr>
            <a:r>
              <a:rPr lang="en-US" sz="2400" dirty="0" smtClean="0">
                <a:solidFill>
                  <a:schemeClr val="tx1"/>
                </a:solidFill>
              </a:rPr>
              <a:t> </a:t>
            </a:r>
            <a:r>
              <a:rPr lang="en-US" sz="2400" dirty="0" smtClean="0">
                <a:solidFill>
                  <a:schemeClr val="tx1"/>
                </a:solidFill>
              </a:rPr>
              <a:t>This comprehensive review systematically examines and categorizes existing cryptographic approaches used to enhance data confidentiality, integrity, and robustness in federated learning systems. </a:t>
            </a:r>
            <a:endParaRPr lang="en-US" sz="2400" dirty="0" smtClean="0">
              <a:solidFill>
                <a:schemeClr val="tx1"/>
              </a:solidFill>
            </a:endParaRPr>
          </a:p>
          <a:p>
            <a:pPr algn="just">
              <a:buFont typeface="Arial" pitchFamily="34" charset="0"/>
              <a:buChar char="•"/>
            </a:pPr>
            <a:r>
              <a:rPr lang="en-US" sz="2400" dirty="0" smtClean="0">
                <a:solidFill>
                  <a:schemeClr val="tx1"/>
                </a:solidFill>
              </a:rPr>
              <a:t>The </a:t>
            </a:r>
            <a:r>
              <a:rPr lang="en-US" sz="2400" dirty="0" smtClean="0">
                <a:solidFill>
                  <a:schemeClr val="tx1"/>
                </a:solidFill>
              </a:rPr>
              <a:t>paper analyzes the strengths, limitations, and performance trade-offs of these techniques in terms of computational complexity, communication overhead, scalability, and model accuracy. </a:t>
            </a:r>
            <a:endParaRPr lang="en-US" sz="2400" dirty="0" smtClean="0">
              <a:solidFill>
                <a:schemeClr val="tx1"/>
              </a:solidFill>
            </a:endParaRPr>
          </a:p>
          <a:p>
            <a:pPr algn="just">
              <a:buFont typeface="Arial" pitchFamily="34" charset="0"/>
              <a:buChar char="•"/>
            </a:pPr>
            <a:r>
              <a:rPr lang="en-US" sz="2400" dirty="0" smtClean="0">
                <a:solidFill>
                  <a:schemeClr val="tx1"/>
                </a:solidFill>
              </a:rPr>
              <a:t>Additionally</a:t>
            </a:r>
            <a:r>
              <a:rPr lang="en-US" sz="2400" dirty="0" smtClean="0">
                <a:solidFill>
                  <a:schemeClr val="tx1"/>
                </a:solidFill>
              </a:rPr>
              <a:t>, current challenges, open research issues, and future directions are discussed, emphasizing the need for lightweight, adaptive, and scalable cryptographic solutions. </a:t>
            </a:r>
            <a:endParaRPr lang="en-US" sz="2400" dirty="0" smtClean="0">
              <a:solidFill>
                <a:schemeClr val="tx1"/>
              </a:solidFill>
            </a:endParaRPr>
          </a:p>
          <a:p>
            <a:pPr algn="just">
              <a:buFont typeface="Arial" pitchFamily="34" charset="0"/>
              <a:buChar char="•"/>
            </a:pPr>
            <a:r>
              <a:rPr lang="en-US" sz="2400" dirty="0" smtClean="0">
                <a:solidFill>
                  <a:schemeClr val="tx1"/>
                </a:solidFill>
              </a:rPr>
              <a:t>This </a:t>
            </a:r>
            <a:r>
              <a:rPr lang="en-US" sz="2400" dirty="0" smtClean="0">
                <a:solidFill>
                  <a:schemeClr val="tx1"/>
                </a:solidFill>
              </a:rPr>
              <a:t>review aims to provide researchers and practitioners with a structured understanding of secure federated learning and to guide the design of privacy-preserving and trustworthy distributed learning systems.</a:t>
            </a:r>
          </a:p>
          <a:p>
            <a:pPr algn="just">
              <a:buFont typeface="Arial" pitchFamily="34" charset="0"/>
              <a:buChar char="•"/>
            </a:pPr>
            <a:endParaRPr lang="en-US" sz="22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2895600" cy="715962"/>
          </a:xfrm>
        </p:spPr>
        <p:txBody>
          <a:bodyPr>
            <a:normAutofit fontScale="90000"/>
          </a:bodyPr>
          <a:lstStyle/>
          <a:p>
            <a:pPr algn="l"/>
            <a:r>
              <a:rPr lang="en-US" dirty="0" smtClean="0"/>
              <a:t>Introduction</a:t>
            </a:r>
            <a:endParaRPr lang="en-US" dirty="0"/>
          </a:p>
        </p:txBody>
      </p:sp>
      <p:sp>
        <p:nvSpPr>
          <p:cNvPr id="3" name="Content Placeholder 2"/>
          <p:cNvSpPr>
            <a:spLocks noGrp="1"/>
          </p:cNvSpPr>
          <p:nvPr>
            <p:ph idx="1"/>
          </p:nvPr>
        </p:nvSpPr>
        <p:spPr>
          <a:xfrm>
            <a:off x="457200" y="990600"/>
            <a:ext cx="8534400" cy="5562600"/>
          </a:xfrm>
        </p:spPr>
        <p:txBody>
          <a:bodyPr>
            <a:normAutofit fontScale="92500" lnSpcReduction="20000"/>
          </a:bodyPr>
          <a:lstStyle/>
          <a:p>
            <a:pPr algn="just"/>
            <a:r>
              <a:rPr lang="en-US" sz="2400" dirty="0" smtClean="0"/>
              <a:t>Federated Learning (FL) has emerged as a transformative paradigm in distributed machine learning, enabling multiple participants to collaboratively train models without directly sharing raw data. By keeping sensitive data localized at edge devices or organizational boundaries, FL addresses critical privacy concerns associated with centralized data collection. This decentralized approach is particularly valuable in data-sensitive domains such as healthcare, finance, smart grids, and Internet of Things (</a:t>
            </a:r>
            <a:r>
              <a:rPr lang="en-US" sz="2400" dirty="0" err="1" smtClean="0"/>
              <a:t>IoT</a:t>
            </a:r>
            <a:r>
              <a:rPr lang="en-US" sz="2400" dirty="0" smtClean="0"/>
              <a:t>) ecosystems, where regulatory compliance and user privacy are paramount.</a:t>
            </a:r>
          </a:p>
          <a:p>
            <a:pPr algn="just"/>
            <a:r>
              <a:rPr lang="en-US" sz="2400" dirty="0" smtClean="0"/>
              <a:t>Despite its privacy-aware design, federated learning does not inherently guarantee complete data security. The exchange of model parameters and gradients between clients and servers can unintentionally leak sensitive information through inference attacks or malicious analysis. Adversaries may exploit these vulnerabilities to reconstruct private data, manipulate model updates, or disrupt the learning process. As federated learning deployments grow in scale and complexity, ensuring robust security across communication, aggregation, and training phases becomes a critical challenge.</a:t>
            </a:r>
          </a:p>
          <a:p>
            <a:pPr algn="just"/>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algn="just"/>
            <a:r>
              <a:rPr lang="en-US" dirty="0" smtClean="0"/>
              <a:t>To mitigate these risks, cryptographic techniques have been increasingly integrated into federated learning frameworks. Approaches such as secure aggregation, </a:t>
            </a:r>
            <a:r>
              <a:rPr lang="en-US" dirty="0" err="1" smtClean="0"/>
              <a:t>homomorphic</a:t>
            </a:r>
            <a:r>
              <a:rPr lang="en-US" dirty="0" smtClean="0"/>
              <a:t> encryption, secure multiparty computation, differential privacy, and hybrid cryptographic schemes aim to enhance confidentiality, integrity, and trust in collaborative learning systems. These techniques provide mathematical guarantees that protect sensitive information even in </a:t>
            </a:r>
            <a:r>
              <a:rPr lang="en-US" dirty="0" err="1" smtClean="0"/>
              <a:t>untrusted</a:t>
            </a:r>
            <a:r>
              <a:rPr lang="en-US" dirty="0" smtClean="0"/>
              <a:t> or semi-trusted environments. However, each cryptographic method introduces trade-offs related to computational cost, communication overhead, scalability, and model performance.</a:t>
            </a:r>
          </a:p>
          <a:p>
            <a:pPr algn="just"/>
            <a:r>
              <a:rPr lang="en-US" dirty="0" smtClean="0"/>
              <a:t>The diversity of cryptographic solutions has led to a fragmented research landscape, where methods are often evaluated under different assumptions, threat models, and experimental settings. This lack of standardization makes it difficult to objectively compare techniques and identify the most suitable approaches for specific applications. Moreover, many existing studies focus on isolated security aspects without providing a holistic view of how cryptographic mechanisms interact within federated learning systems</a:t>
            </a:r>
            <a:r>
              <a:rPr lang="en-US" dirty="0" smtClean="0"/>
              <a:t>.</a:t>
            </a:r>
            <a:endParaRPr lang="en-US"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algn="just"/>
            <a:r>
              <a:rPr lang="en-US" dirty="0" smtClean="0"/>
              <a:t>In this context, this paper presents a comprehensive review of cryptographic techniques applied to federated learning for secure data sharing and model training. The review systematically categorizes existing approaches, analyzes their strengths and limitations, and evaluates them based on security guarantees and performance metrics. By identifying research gaps and open challenges, this work aims to guide researchers and practitioners toward the development of efficient, scalable, and secure federated learning solutions.</a:t>
            </a:r>
          </a:p>
          <a:p>
            <a:endParaRPr lang="en-US" dirty="0" smtClean="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Existing System:</a:t>
            </a:r>
            <a:endParaRPr lang="en-US" dirty="0"/>
          </a:p>
        </p:txBody>
      </p:sp>
      <p:sp>
        <p:nvSpPr>
          <p:cNvPr id="3" name="Content Placeholder 2"/>
          <p:cNvSpPr>
            <a:spLocks noGrp="1"/>
          </p:cNvSpPr>
          <p:nvPr>
            <p:ph idx="1"/>
          </p:nvPr>
        </p:nvSpPr>
        <p:spPr/>
        <p:txBody>
          <a:bodyPr>
            <a:normAutofit fontScale="70000" lnSpcReduction="20000"/>
          </a:bodyPr>
          <a:lstStyle/>
          <a:p>
            <a:pPr algn="just"/>
            <a:r>
              <a:rPr lang="en-US" sz="2400" dirty="0" smtClean="0"/>
              <a:t>The rapid adoption of Federated Learning (FL) has emerged as a promising paradigm for collaborative model training without centralizing sensitive data, making it particularly suitable for privacy-critical domains such as healthcare, finance, and smart </a:t>
            </a:r>
            <a:r>
              <a:rPr lang="en-US" sz="2400" dirty="0" err="1" smtClean="0"/>
              <a:t>IoT</a:t>
            </a:r>
            <a:r>
              <a:rPr lang="en-US" sz="2400" dirty="0" smtClean="0"/>
              <a:t> systems. </a:t>
            </a:r>
            <a:endParaRPr lang="en-US" sz="2400" dirty="0" smtClean="0"/>
          </a:p>
          <a:p>
            <a:pPr algn="just"/>
            <a:r>
              <a:rPr lang="en-US" sz="2400" dirty="0" smtClean="0"/>
              <a:t>However</a:t>
            </a:r>
            <a:r>
              <a:rPr lang="en-US" sz="2400" dirty="0" smtClean="0"/>
              <a:t>, despite its decentralized nature, federated learning remains vulnerable to a wide range of security and privacy threats, including inference attacks, model poisoning, gradient leakage, and adversarial manipulation during communication and aggregation phases. </a:t>
            </a:r>
            <a:endParaRPr lang="en-US" sz="2400" dirty="0" smtClean="0"/>
          </a:p>
          <a:p>
            <a:pPr algn="just"/>
            <a:r>
              <a:rPr lang="en-US" sz="2400" dirty="0" smtClean="0"/>
              <a:t>The </a:t>
            </a:r>
            <a:r>
              <a:rPr lang="en-US" sz="2400" dirty="0" smtClean="0"/>
              <a:t>exchange of model updates rather than raw data does not inherently guarantee data confidentiality, as attackers can exploit shared gradients or parameters to reconstruct sensitive information. This exposes a critical gap between the perceived and actual security guarantees of federated learning systems.</a:t>
            </a:r>
          </a:p>
          <a:p>
            <a:pPr algn="just"/>
            <a:r>
              <a:rPr lang="en-US" sz="2400" dirty="0" smtClean="0"/>
              <a:t>To address these challenges, numerous cryptographic techniques—such as secure multiparty computation, </a:t>
            </a:r>
            <a:r>
              <a:rPr lang="en-US" sz="2400" dirty="0" err="1" smtClean="0"/>
              <a:t>homomorphic</a:t>
            </a:r>
            <a:r>
              <a:rPr lang="en-US" sz="2400" dirty="0" smtClean="0"/>
              <a:t> encryption, differential privacy, and secure aggregation protocols—have been proposed to enhance data protection in federated learning environments. </a:t>
            </a:r>
            <a:endParaRPr lang="en-US" sz="2400" dirty="0" smtClean="0"/>
          </a:p>
          <a:p>
            <a:pPr algn="just"/>
            <a:r>
              <a:rPr lang="en-US" sz="2400" dirty="0" smtClean="0"/>
              <a:t>However</a:t>
            </a:r>
            <a:r>
              <a:rPr lang="en-US" sz="2400" dirty="0" smtClean="0"/>
              <a:t>, these solutions often introduce significant trade-offs in terms of computational overhead, communication cost, scalability, and model accuracy. </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Proposed System:</a:t>
            </a:r>
            <a:endParaRPr lang="en-US" dirty="0"/>
          </a:p>
        </p:txBody>
      </p:sp>
      <p:sp>
        <p:nvSpPr>
          <p:cNvPr id="3" name="Content Placeholder 2"/>
          <p:cNvSpPr>
            <a:spLocks noGrp="1"/>
          </p:cNvSpPr>
          <p:nvPr>
            <p:ph idx="1"/>
          </p:nvPr>
        </p:nvSpPr>
        <p:spPr/>
        <p:txBody>
          <a:bodyPr>
            <a:normAutofit fontScale="70000" lnSpcReduction="20000"/>
          </a:bodyPr>
          <a:lstStyle/>
          <a:p>
            <a:pPr algn="just"/>
            <a:r>
              <a:rPr lang="en-US" sz="2400" dirty="0" smtClean="0"/>
              <a:t>A</a:t>
            </a:r>
            <a:r>
              <a:rPr lang="en-US" sz="2400" dirty="0" smtClean="0"/>
              <a:t> </a:t>
            </a:r>
            <a:r>
              <a:rPr lang="en-US" sz="2400" dirty="0" smtClean="0"/>
              <a:t>structured and comprehensive review framework to analyze cryptographic techniques employed in federated learning for secure data sharing and model training. </a:t>
            </a:r>
            <a:endParaRPr lang="en-US" sz="2400" dirty="0" smtClean="0"/>
          </a:p>
          <a:p>
            <a:pPr algn="just"/>
            <a:r>
              <a:rPr lang="en-US" sz="2400" dirty="0" smtClean="0"/>
              <a:t>The </a:t>
            </a:r>
            <a:r>
              <a:rPr lang="en-US" sz="2400" dirty="0" smtClean="0"/>
              <a:t>proposed approach systematically classifies existing methods into key categories, including secure aggregation protocols, </a:t>
            </a:r>
            <a:r>
              <a:rPr lang="en-US" sz="2400" dirty="0" err="1" smtClean="0"/>
              <a:t>homomorphic</a:t>
            </a:r>
            <a:r>
              <a:rPr lang="en-US" sz="2400" dirty="0" smtClean="0"/>
              <a:t> encryption, secure multiparty computation, differential privacy, and hybrid cryptographic models. </a:t>
            </a:r>
            <a:endParaRPr lang="en-US" sz="2400" dirty="0" smtClean="0"/>
          </a:p>
          <a:p>
            <a:pPr algn="just"/>
            <a:r>
              <a:rPr lang="en-US" sz="2400" dirty="0" smtClean="0"/>
              <a:t>Each </a:t>
            </a:r>
            <a:r>
              <a:rPr lang="en-US" sz="2400" dirty="0" smtClean="0"/>
              <a:t>category is examined based on clearly defined evaluation criteria such as privacy guarantees, resistance to known attacks, computational and communication overhead, scalability, and impact on learning performance. </a:t>
            </a:r>
            <a:endParaRPr lang="en-US" sz="2400" dirty="0" smtClean="0"/>
          </a:p>
          <a:p>
            <a:pPr algn="just"/>
            <a:r>
              <a:rPr lang="en-US" sz="2400" dirty="0" smtClean="0"/>
              <a:t>By </a:t>
            </a:r>
            <a:r>
              <a:rPr lang="en-US" sz="2400" dirty="0" smtClean="0"/>
              <a:t>adopting a comparative and taxonomy-driven analysis, the proposed review framework enables a unified understanding of how different cryptographic mechanisms address specific security challenges in federated learning environments.</a:t>
            </a:r>
          </a:p>
          <a:p>
            <a:pPr algn="just"/>
            <a:r>
              <a:rPr lang="en-US" sz="2400" dirty="0" smtClean="0"/>
              <a:t>Furthermore, the proposed study integrates a threat-model-based perspective to map cryptographic techniques to corresponding attack vectors, including inference attacks, poisoning attacks, and Byzantine failures. </a:t>
            </a:r>
            <a:endParaRPr lang="en-US" sz="2400" dirty="0" smtClean="0"/>
          </a:p>
          <a:p>
            <a:pPr algn="just"/>
            <a:r>
              <a:rPr lang="en-US" sz="2400" dirty="0" smtClean="0"/>
              <a:t>The </a:t>
            </a:r>
            <a:r>
              <a:rPr lang="en-US" sz="2400" dirty="0" smtClean="0"/>
              <a:t>review also highlights practical deployment considerations across heterogeneous and resource-constrained environments, such as edge and </a:t>
            </a:r>
            <a:r>
              <a:rPr lang="en-US" sz="2400" dirty="0" err="1" smtClean="0"/>
              <a:t>IoT</a:t>
            </a:r>
            <a:r>
              <a:rPr lang="en-US" sz="2400" dirty="0" smtClean="0"/>
              <a:t> systems. </a:t>
            </a:r>
          </a:p>
          <a:p>
            <a:pPr algn="just"/>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Disadvantage:</a:t>
            </a:r>
            <a:endParaRPr lang="en-US" dirty="0"/>
          </a:p>
        </p:txBody>
      </p:sp>
      <p:sp>
        <p:nvSpPr>
          <p:cNvPr id="3" name="Content Placeholder 2"/>
          <p:cNvSpPr>
            <a:spLocks noGrp="1"/>
          </p:cNvSpPr>
          <p:nvPr>
            <p:ph idx="1"/>
          </p:nvPr>
        </p:nvSpPr>
        <p:spPr/>
        <p:txBody>
          <a:bodyPr>
            <a:normAutofit fontScale="70000" lnSpcReduction="20000"/>
          </a:bodyPr>
          <a:lstStyle/>
          <a:p>
            <a:pPr algn="just"/>
            <a:r>
              <a:rPr lang="en-US" sz="2400" dirty="0" smtClean="0"/>
              <a:t>Despite their effectiveness in enhancing privacy and security, cryptographic techniques in federated learning introduce several notable disadvantages that limit their practical adoption</a:t>
            </a:r>
            <a:r>
              <a:rPr lang="en-US" sz="2400" dirty="0" smtClean="0"/>
              <a:t>.</a:t>
            </a:r>
          </a:p>
          <a:p>
            <a:pPr algn="just"/>
            <a:r>
              <a:rPr lang="en-US" sz="2400" dirty="0" smtClean="0"/>
              <a:t> </a:t>
            </a:r>
            <a:r>
              <a:rPr lang="en-US" sz="2400" dirty="0" smtClean="0"/>
              <a:t>Many cryptographic methods, such as </a:t>
            </a:r>
            <a:r>
              <a:rPr lang="en-US" sz="2400" dirty="0" err="1" smtClean="0"/>
              <a:t>homomorphic</a:t>
            </a:r>
            <a:r>
              <a:rPr lang="en-US" sz="2400" dirty="0" smtClean="0"/>
              <a:t> encryption and secure multiparty computation, incur high computational and communication overhead, making them unsuitable for resource-constrained environments like mobile devices and </a:t>
            </a:r>
            <a:r>
              <a:rPr lang="en-US" sz="2400" dirty="0" err="1" smtClean="0"/>
              <a:t>IoT</a:t>
            </a:r>
            <a:r>
              <a:rPr lang="en-US" sz="2400" dirty="0" smtClean="0"/>
              <a:t> nodes. </a:t>
            </a:r>
            <a:endParaRPr lang="en-US" sz="2400" dirty="0" smtClean="0"/>
          </a:p>
          <a:p>
            <a:pPr algn="just"/>
            <a:r>
              <a:rPr lang="en-US" sz="2400" dirty="0" smtClean="0"/>
              <a:t>Secure </a:t>
            </a:r>
            <a:r>
              <a:rPr lang="en-US" sz="2400" dirty="0" smtClean="0"/>
              <a:t>aggregation protocols often require multiple rounds of communication and synchronization, increasing latency and reducing system scalability in large-scale federated networks. </a:t>
            </a:r>
            <a:endParaRPr lang="en-US" sz="2400" dirty="0" smtClean="0"/>
          </a:p>
          <a:p>
            <a:pPr algn="just"/>
            <a:r>
              <a:rPr lang="en-US" sz="2400" dirty="0" smtClean="0"/>
              <a:t>Additionally</a:t>
            </a:r>
            <a:r>
              <a:rPr lang="en-US" sz="2400" dirty="0" smtClean="0"/>
              <a:t>, the integration of differential privacy can degrade model accuracy due to the injection of noise, particularly when strict privacy budgets are enforced.</a:t>
            </a:r>
          </a:p>
          <a:p>
            <a:pPr algn="just"/>
            <a:r>
              <a:rPr lang="en-US" sz="2400" dirty="0" smtClean="0"/>
              <a:t>Moreover, the complexity of implementing and managing cryptographic mechanisms in federated learning systems poses significant challenges. </a:t>
            </a:r>
            <a:endParaRPr lang="en-US" sz="2400" dirty="0" smtClean="0"/>
          </a:p>
          <a:p>
            <a:pPr algn="just"/>
            <a:r>
              <a:rPr lang="en-US" sz="2400" dirty="0" smtClean="0"/>
              <a:t>Key </a:t>
            </a:r>
            <a:r>
              <a:rPr lang="en-US" sz="2400" dirty="0" smtClean="0"/>
              <a:t>management, protocol orchestration, and fault tolerance become increasingly difficult in dynamic and heterogeneous environments where clients may frequently join or leave the network. </a:t>
            </a:r>
            <a:endParaRPr lang="en-US" sz="2400" dirty="0" smtClean="0"/>
          </a:p>
          <a:p>
            <a:pPr algn="just"/>
            <a:r>
              <a:rPr lang="en-US" sz="2400" dirty="0" smtClean="0"/>
              <a:t>Many </a:t>
            </a:r>
            <a:r>
              <a:rPr lang="en-US" sz="2400" dirty="0" smtClean="0"/>
              <a:t>existing approaches assume honest or semi-honest participants, limiting their effectiveness against fully malicious adversaries. </a:t>
            </a:r>
          </a:p>
          <a:p>
            <a:pPr algn="just"/>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Advantage:</a:t>
            </a:r>
            <a:endParaRPr lang="en-US" dirty="0"/>
          </a:p>
        </p:txBody>
      </p:sp>
      <p:sp>
        <p:nvSpPr>
          <p:cNvPr id="3" name="Content Placeholder 2"/>
          <p:cNvSpPr>
            <a:spLocks noGrp="1"/>
          </p:cNvSpPr>
          <p:nvPr>
            <p:ph idx="1"/>
          </p:nvPr>
        </p:nvSpPr>
        <p:spPr/>
        <p:txBody>
          <a:bodyPr>
            <a:normAutofit fontScale="70000" lnSpcReduction="20000"/>
          </a:bodyPr>
          <a:lstStyle/>
          <a:p>
            <a:pPr algn="just"/>
            <a:r>
              <a:rPr lang="en-US" sz="2400" dirty="0" smtClean="0"/>
              <a:t>The integration of cryptographic techniques into federated learning offers significant advantages in ensuring secure and privacy-preserving collaborative model training. </a:t>
            </a:r>
            <a:endParaRPr lang="en-US" sz="2400" dirty="0" smtClean="0"/>
          </a:p>
          <a:p>
            <a:pPr algn="just"/>
            <a:r>
              <a:rPr lang="en-US" sz="2400" dirty="0" smtClean="0"/>
              <a:t>By </a:t>
            </a:r>
            <a:r>
              <a:rPr lang="en-US" sz="2400" dirty="0" smtClean="0"/>
              <a:t>leveraging mechanisms such as secure aggregation, </a:t>
            </a:r>
            <a:r>
              <a:rPr lang="en-US" sz="2400" dirty="0" err="1" smtClean="0"/>
              <a:t>homomorphic</a:t>
            </a:r>
            <a:r>
              <a:rPr lang="en-US" sz="2400" dirty="0" smtClean="0"/>
              <a:t> encryption, secure multiparty computation, and differential privacy, federated learning systems can effectively protect sensitive data from leakage during model updates and communication. </a:t>
            </a:r>
            <a:endParaRPr lang="en-US" sz="2400" dirty="0" smtClean="0"/>
          </a:p>
          <a:p>
            <a:pPr algn="just"/>
            <a:r>
              <a:rPr lang="en-US" sz="2400" dirty="0" smtClean="0"/>
              <a:t>These </a:t>
            </a:r>
            <a:r>
              <a:rPr lang="en-US" sz="2400" dirty="0" smtClean="0"/>
              <a:t>techniques enable strong guarantees of data confidentiality, integrity, and access control, even in </a:t>
            </a:r>
            <a:r>
              <a:rPr lang="en-US" sz="2400" dirty="0" err="1" smtClean="0"/>
              <a:t>untrusted</a:t>
            </a:r>
            <a:r>
              <a:rPr lang="en-US" sz="2400" dirty="0" smtClean="0"/>
              <a:t> or semi-trusted environments. As a result, organizations can collaboratively train high-quality models while complying with data protection regulations and preserving user privacy.</a:t>
            </a:r>
          </a:p>
          <a:p>
            <a:pPr algn="just"/>
            <a:r>
              <a:rPr lang="en-US" sz="2400" dirty="0" smtClean="0"/>
              <a:t>In addition to enhanced security, cryptographic techniques improve trust, robustness, and adoption of federated learning across critical application domains. Secure protocols reduce the risk of inference attacks, model poisoning, and unauthorized data reconstruction, thereby strengthening system reliability. </a:t>
            </a:r>
            <a:endParaRPr lang="en-US" sz="2400" dirty="0" smtClean="0"/>
          </a:p>
          <a:p>
            <a:pPr algn="just"/>
            <a:r>
              <a:rPr lang="en-US" sz="2400" dirty="0" smtClean="0"/>
              <a:t>Cryptographic </a:t>
            </a:r>
            <a:r>
              <a:rPr lang="en-US" sz="2400" dirty="0" smtClean="0"/>
              <a:t>integration also supports decentralized data ownership and minimizes dependence on centralized data storage, reducing single points of failure. </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smtClean="0"/>
              <a:t>Software Requirements:</a:t>
            </a:r>
            <a:endParaRPr lang="en-US" dirty="0"/>
          </a:p>
        </p:txBody>
      </p:sp>
      <p:sp>
        <p:nvSpPr>
          <p:cNvPr id="3" name="Content Placeholder 2"/>
          <p:cNvSpPr>
            <a:spLocks noGrp="1"/>
          </p:cNvSpPr>
          <p:nvPr>
            <p:ph idx="1"/>
          </p:nvPr>
        </p:nvSpPr>
        <p:spPr/>
        <p:txBody>
          <a:bodyPr>
            <a:normAutofit/>
          </a:bodyPr>
          <a:lstStyle/>
          <a:p>
            <a:pPr algn="just"/>
            <a:r>
              <a:rPr lang="en-US" b="1" u="sng" dirty="0" smtClean="0"/>
              <a:t>Hardware Requirements:</a:t>
            </a:r>
            <a:r>
              <a:rPr lang="en-US" b="1" dirty="0" smtClean="0"/>
              <a:t> </a:t>
            </a:r>
            <a:endParaRPr lang="en-US" dirty="0" smtClean="0"/>
          </a:p>
          <a:p>
            <a:pPr lvl="0"/>
            <a:r>
              <a:rPr lang="en-US" dirty="0" smtClean="0"/>
              <a:t>System    	:  Pentium IV 2.4 GHz.</a:t>
            </a:r>
          </a:p>
          <a:p>
            <a:pPr lvl="0"/>
            <a:r>
              <a:rPr lang="en-US" dirty="0" smtClean="0"/>
              <a:t>Hard Disk	: 40 GB.</a:t>
            </a:r>
          </a:p>
          <a:p>
            <a:pPr lvl="0"/>
            <a:r>
              <a:rPr lang="en-US" dirty="0" smtClean="0"/>
              <a:t>Monitor   	: 15 inch VGA Color.</a:t>
            </a:r>
          </a:p>
          <a:p>
            <a:pPr lvl="0"/>
            <a:r>
              <a:rPr lang="en-US" dirty="0" smtClean="0"/>
              <a:t>Mouse    	: Logitech Mouse.</a:t>
            </a:r>
          </a:p>
          <a:p>
            <a:pPr lvl="0"/>
            <a:r>
              <a:rPr lang="en-US" dirty="0" smtClean="0"/>
              <a:t>Ram		: 512 MB</a:t>
            </a:r>
          </a:p>
          <a:p>
            <a:pPr lvl="0"/>
            <a:r>
              <a:rPr lang="en-US" dirty="0" smtClean="0"/>
              <a:t>Keyboard	: Standard Keyboard</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b="1" u="sng" dirty="0" smtClean="0"/>
              <a:t>Software Requirements:</a:t>
            </a:r>
            <a:endParaRPr lang="en-US" dirty="0" smtClean="0"/>
          </a:p>
          <a:p>
            <a:pPr lvl="0"/>
            <a:r>
              <a:rPr lang="en-US" dirty="0" smtClean="0"/>
              <a:t>Operating System	: Windows XP.</a:t>
            </a:r>
          </a:p>
          <a:p>
            <a:pPr lvl="0"/>
            <a:r>
              <a:rPr lang="en-US" dirty="0" smtClean="0"/>
              <a:t>Platform 		: PYTHON TECHNOLOGY </a:t>
            </a:r>
          </a:p>
          <a:p>
            <a:pPr lvl="0"/>
            <a:r>
              <a:rPr lang="en-US" dirty="0" smtClean="0"/>
              <a:t>Tool			: Python 3.6</a:t>
            </a:r>
          </a:p>
          <a:p>
            <a:pPr lvl="0"/>
            <a:r>
              <a:rPr lang="en-US" dirty="0" smtClean="0"/>
              <a:t>Front End		: Python anaconda script</a:t>
            </a:r>
          </a:p>
          <a:p>
            <a:pPr lvl="0"/>
            <a:r>
              <a:rPr lang="en-US" dirty="0" smtClean="0"/>
              <a:t>Back End		: </a:t>
            </a:r>
            <a:r>
              <a:rPr lang="en-US" smtClean="0"/>
              <a:t>Spyder</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Module Description:</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sz="2400" b="1" dirty="0" smtClean="0"/>
              <a:t>1. Federated Learning Architecture Analysis</a:t>
            </a:r>
          </a:p>
          <a:p>
            <a:pPr algn="just"/>
            <a:r>
              <a:rPr lang="en-US" sz="2400" dirty="0" smtClean="0"/>
              <a:t>This module focuses on examining the fundamental architecture of federated learning systems, including client–server interactions, decentralized data distribution, and model update workflows. It highlights how data remains at local nodes while only model parameters are exchanged. The module also identifies inherent security vulnerabilities present at different stages of the federated learning lifecycle.</a:t>
            </a:r>
          </a:p>
          <a:p>
            <a:pPr algn="just"/>
            <a:r>
              <a:rPr lang="en-US" sz="2400" b="1" dirty="0" smtClean="0"/>
              <a:t>2. Threat and Attack Model Identification</a:t>
            </a:r>
          </a:p>
          <a:p>
            <a:pPr algn="just"/>
            <a:r>
              <a:rPr lang="en-US" sz="2400" dirty="0" smtClean="0"/>
              <a:t>This module analyzes common security and privacy threats in federated learning environments. It covers attacks such as gradient inversion, inference attacks, poisoning attacks, Byzantine behavior, and communication tampering. Understanding these threats provides the foundation for evaluating the effectiveness of cryptographic defenses.</a:t>
            </a:r>
          </a:p>
          <a:p>
            <a:pPr algn="just"/>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algn="just"/>
            <a:r>
              <a:rPr lang="en-US" sz="2000" b="1" dirty="0" smtClean="0"/>
              <a:t>3. Cryptographic Techniques Classification</a:t>
            </a:r>
          </a:p>
          <a:p>
            <a:pPr algn="just"/>
            <a:r>
              <a:rPr lang="en-US" sz="2000" dirty="0" smtClean="0"/>
              <a:t>This module categorizes cryptographic approaches used in federated learning into distinct groups, including secure aggregation protocols, </a:t>
            </a:r>
            <a:r>
              <a:rPr lang="en-US" sz="2000" dirty="0" err="1" smtClean="0"/>
              <a:t>homomorphic</a:t>
            </a:r>
            <a:r>
              <a:rPr lang="en-US" sz="2000" dirty="0" smtClean="0"/>
              <a:t> encryption, secure multiparty computation, differential privacy mechanisms, and hybrid cryptographic models. Each category is defined and its role in protecting data confidentiality and integrity is discussed.</a:t>
            </a:r>
          </a:p>
          <a:p>
            <a:pPr algn="just"/>
            <a:r>
              <a:rPr lang="en-US" sz="2000" b="1" dirty="0" smtClean="0"/>
              <a:t>4. Security and Privacy Evaluation Metrics</a:t>
            </a:r>
          </a:p>
          <a:p>
            <a:pPr algn="just"/>
            <a:r>
              <a:rPr lang="en-US" sz="2000" dirty="0" smtClean="0"/>
              <a:t>This module defines the criteria used to assess cryptographic techniques, such as privacy guarantees, resistance to attack models, communication overhead, computational complexity, scalability, and impact on model accuracy. These metrics ensure consistent and objective comparison across different studies.</a:t>
            </a:r>
          </a:p>
          <a:p>
            <a:endParaRPr lang="en-IN" sz="2200" dirty="0"/>
          </a:p>
        </p:txBody>
      </p:sp>
    </p:spTree>
    <p:extLst>
      <p:ext uri="{BB962C8B-B14F-4D97-AF65-F5344CB8AC3E}">
        <p14:creationId xmlns:p14="http://schemas.microsoft.com/office/powerpoint/2010/main" xmlns="" val="1769512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algn="just"/>
            <a:r>
              <a:rPr lang="en-US" sz="2400" b="1" dirty="0" smtClean="0"/>
              <a:t>5. Comparative Analysis of Existing Approaches</a:t>
            </a:r>
          </a:p>
          <a:p>
            <a:pPr algn="just"/>
            <a:r>
              <a:rPr lang="en-US" sz="2400" dirty="0" smtClean="0"/>
              <a:t>This module performs a systematic comparison of existing cryptographic methods based on the defined evaluation metrics. It highlights the strengths, limitations, and practical trade-offs of each technique when deployed in real-world federated learning scenarios.</a:t>
            </a:r>
          </a:p>
          <a:p>
            <a:pPr algn="just"/>
            <a:r>
              <a:rPr lang="en-US" sz="2400" b="1" dirty="0" smtClean="0"/>
              <a:t>6. Application-Specific Use Case Analysis</a:t>
            </a:r>
          </a:p>
          <a:p>
            <a:pPr algn="just"/>
            <a:r>
              <a:rPr lang="en-US" sz="2400" dirty="0" smtClean="0"/>
              <a:t>This module examines how cryptographic techniques are applied in different domains such as healthcare, finance, smart grids, and Internet of Things (</a:t>
            </a:r>
            <a:r>
              <a:rPr lang="en-US" sz="2400" dirty="0" err="1" smtClean="0"/>
              <a:t>IoT</a:t>
            </a:r>
            <a:r>
              <a:rPr lang="en-US" sz="2400" dirty="0" smtClean="0"/>
              <a:t>) systems. It evaluates domain-specific requirements and challenges related to privacy, latency, and resource constraints.</a:t>
            </a:r>
          </a:p>
          <a:p>
            <a:endParaRPr lang="en-IN" sz="2200" dirty="0"/>
          </a:p>
        </p:txBody>
      </p:sp>
    </p:spTree>
    <p:extLst>
      <p:ext uri="{BB962C8B-B14F-4D97-AF65-F5344CB8AC3E}">
        <p14:creationId xmlns:p14="http://schemas.microsoft.com/office/powerpoint/2010/main" xmlns="" val="2270548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Algorithm Used:</a:t>
            </a:r>
            <a:endParaRPr lang="en-US" dirty="0"/>
          </a:p>
        </p:txBody>
      </p:sp>
      <p:sp>
        <p:nvSpPr>
          <p:cNvPr id="3" name="Content Placeholder 2"/>
          <p:cNvSpPr>
            <a:spLocks noGrp="1"/>
          </p:cNvSpPr>
          <p:nvPr>
            <p:ph idx="1"/>
          </p:nvPr>
        </p:nvSpPr>
        <p:spPr>
          <a:xfrm>
            <a:off x="228600" y="1219200"/>
            <a:ext cx="8610600" cy="5334000"/>
          </a:xfrm>
        </p:spPr>
        <p:txBody>
          <a:bodyPr>
            <a:normAutofit fontScale="70000" lnSpcReduction="20000"/>
          </a:bodyPr>
          <a:lstStyle/>
          <a:p>
            <a:pPr algn="just"/>
            <a:r>
              <a:rPr lang="en-US" sz="2400" dirty="0" smtClean="0"/>
              <a:t>The algorithmic framework for secure federated learning using cryptographic techniques follows an iterative and privacy-preserving training process. </a:t>
            </a:r>
            <a:endParaRPr lang="en-US" sz="2400" dirty="0" smtClean="0"/>
          </a:p>
          <a:p>
            <a:pPr algn="just"/>
            <a:r>
              <a:rPr lang="en-US" sz="2400" dirty="0" smtClean="0"/>
              <a:t>Initially</a:t>
            </a:r>
            <a:r>
              <a:rPr lang="en-US" sz="2400" dirty="0" smtClean="0"/>
              <a:t>, a global model is initialized by a central coordinator and distributed to participating client devices. Each client performs local model training using its private dataset without sharing raw data. </a:t>
            </a:r>
            <a:endParaRPr lang="en-US" sz="2400" dirty="0" smtClean="0"/>
          </a:p>
          <a:p>
            <a:pPr algn="just"/>
            <a:r>
              <a:rPr lang="en-US" sz="2400" dirty="0" smtClean="0"/>
              <a:t>Before </a:t>
            </a:r>
            <a:r>
              <a:rPr lang="en-US" sz="2400" dirty="0" smtClean="0"/>
              <a:t>transmission, the locally computed model updates are protected using cryptographic mechanisms such as secure aggregation, </a:t>
            </a:r>
            <a:r>
              <a:rPr lang="en-US" sz="2400" dirty="0" err="1" smtClean="0"/>
              <a:t>homomorphic</a:t>
            </a:r>
            <a:r>
              <a:rPr lang="en-US" sz="2400" dirty="0" smtClean="0"/>
              <a:t> encryption, or secure multiparty computation, depending on the security requirements</a:t>
            </a:r>
            <a:r>
              <a:rPr lang="en-US" sz="2400" dirty="0" smtClean="0"/>
              <a:t>.</a:t>
            </a:r>
          </a:p>
          <a:p>
            <a:pPr algn="just"/>
            <a:r>
              <a:rPr lang="en-US" sz="2400" dirty="0" smtClean="0"/>
              <a:t> </a:t>
            </a:r>
            <a:r>
              <a:rPr lang="en-US" sz="2400" dirty="0" smtClean="0"/>
              <a:t>These encrypted or masked updates are then sent to the central server, ensuring confidentiality during communication.</a:t>
            </a:r>
          </a:p>
          <a:p>
            <a:pPr algn="just"/>
            <a:r>
              <a:rPr lang="en-US" sz="2400" dirty="0" smtClean="0"/>
              <a:t>Upon receiving the protected updates, the server aggregates them without accessing individual client information, leveraging cryptographic protocols that preserve privacy. </a:t>
            </a:r>
            <a:endParaRPr lang="en-US" sz="2400" dirty="0" smtClean="0"/>
          </a:p>
          <a:p>
            <a:pPr algn="just"/>
            <a:r>
              <a:rPr lang="en-US" sz="2400" dirty="0" smtClean="0"/>
              <a:t>The </a:t>
            </a:r>
            <a:r>
              <a:rPr lang="en-US" sz="2400" dirty="0" smtClean="0"/>
              <a:t>aggregated result is decrypted or securely combined to update the global model, which is then redistributed to clients for the next training round. This process continues iteratively until the model converges. </a:t>
            </a:r>
            <a:endParaRPr lang="en-US" sz="2400" dirty="0" smtClean="0"/>
          </a:p>
          <a:p>
            <a:pPr algn="just"/>
            <a:r>
              <a:rPr lang="en-US" sz="2400" dirty="0" smtClean="0"/>
              <a:t>Throughout </a:t>
            </a:r>
            <a:r>
              <a:rPr lang="en-US" sz="2400" dirty="0" smtClean="0"/>
              <a:t>the training lifecycle, additional security measures such as differential privacy noise injection and participant authentication may be applied to enhance robustness against inference and poisoning attacks. </a:t>
            </a:r>
            <a:endParaRPr lang="en-US" sz="2400" dirty="0" smtClean="0"/>
          </a:p>
          <a:p>
            <a:pPr algn="just"/>
            <a:r>
              <a:rPr lang="en-US" sz="2400" dirty="0" smtClean="0"/>
              <a:t>This </a:t>
            </a:r>
            <a:r>
              <a:rPr lang="en-US" sz="2400" dirty="0" smtClean="0"/>
              <a:t>algorithmic approach enables collaborative learning while maintaining strong data security and privacy guarantees.</a:t>
            </a:r>
          </a:p>
          <a:p>
            <a:pPr algn="just"/>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smtClean="0"/>
              <a:t>Literature survey:</a:t>
            </a:r>
            <a:endParaRPr lang="en-US" dirty="0"/>
          </a:p>
        </p:txBody>
      </p:sp>
      <p:sp>
        <p:nvSpPr>
          <p:cNvPr id="3" name="Content Placeholder 2"/>
          <p:cNvSpPr>
            <a:spLocks noGrp="1"/>
          </p:cNvSpPr>
          <p:nvPr>
            <p:ph idx="1"/>
          </p:nvPr>
        </p:nvSpPr>
        <p:spPr/>
        <p:txBody>
          <a:bodyPr>
            <a:normAutofit fontScale="70000" lnSpcReduction="20000"/>
          </a:bodyPr>
          <a:lstStyle/>
          <a:p>
            <a:pPr algn="just"/>
            <a:r>
              <a:rPr lang="en-US" b="1" dirty="0" smtClean="0"/>
              <a:t>1. </a:t>
            </a:r>
            <a:r>
              <a:rPr lang="en-US" b="1" dirty="0" err="1" smtClean="0"/>
              <a:t>Yasmin</a:t>
            </a:r>
            <a:r>
              <a:rPr lang="en-US" b="1" dirty="0" smtClean="0"/>
              <a:t> </a:t>
            </a:r>
            <a:r>
              <a:rPr lang="en-US" b="1" dirty="0" err="1" smtClean="0"/>
              <a:t>Makki</a:t>
            </a:r>
            <a:r>
              <a:rPr lang="en-US" b="1" dirty="0" smtClean="0"/>
              <a:t> </a:t>
            </a:r>
            <a:r>
              <a:rPr lang="en-US" b="1" dirty="0" err="1" smtClean="0"/>
              <a:t>Mohialden</a:t>
            </a:r>
            <a:r>
              <a:rPr lang="en-US" b="1" dirty="0" smtClean="0"/>
              <a:t> et al. — </a:t>
            </a:r>
            <a:r>
              <a:rPr lang="en-US" b="1" i="1" dirty="0" smtClean="0"/>
              <a:t>Secure Federated Learning with a </a:t>
            </a:r>
            <a:r>
              <a:rPr lang="en-US" b="1" i="1" dirty="0" err="1" smtClean="0"/>
              <a:t>Homomorphic</a:t>
            </a:r>
            <a:r>
              <a:rPr lang="en-US" b="1" i="1" dirty="0" smtClean="0"/>
              <a:t> Encryption Model</a:t>
            </a:r>
            <a:endParaRPr lang="en-US" b="1" dirty="0" smtClean="0"/>
          </a:p>
          <a:p>
            <a:pPr algn="just"/>
            <a:r>
              <a:rPr lang="en-US" b="1" dirty="0" smtClean="0"/>
              <a:t>Abstract:</a:t>
            </a:r>
            <a:r>
              <a:rPr lang="en-US" dirty="0" smtClean="0"/>
              <a:t> This study proposes a secure federated learning model that integrates </a:t>
            </a:r>
            <a:r>
              <a:rPr lang="en-US" b="1" dirty="0" err="1" smtClean="0"/>
              <a:t>homomorphic</a:t>
            </a:r>
            <a:r>
              <a:rPr lang="en-US" b="1" dirty="0" smtClean="0"/>
              <a:t> encryption</a:t>
            </a:r>
            <a:r>
              <a:rPr lang="en-US" dirty="0" smtClean="0"/>
              <a:t> into the FL training process. The approach begins with initializing a global model and generating an encryption key pair, with the public key shared among all FL participants. Clients encrypt their local data using </a:t>
            </a:r>
            <a:r>
              <a:rPr lang="en-US" dirty="0" err="1" smtClean="0"/>
              <a:t>homomorphic</a:t>
            </a:r>
            <a:r>
              <a:rPr lang="en-US" dirty="0" smtClean="0"/>
              <a:t> encryption before computing updates, allowing the aggregator to combine encrypted model updates without accessing the raw data. Following aggregation, the global model is decrypted and updated securely. This method significantly strengthens privacy protection by ensuring that sensitive data remains encrypted throughout training, making it suitable for domains where privacy is critical.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algn="just"/>
            <a:r>
              <a:rPr lang="en-US" b="1" dirty="0" smtClean="0"/>
              <a:t>2. </a:t>
            </a:r>
            <a:r>
              <a:rPr lang="en-US" b="1" dirty="0" err="1" smtClean="0"/>
              <a:t>Weizhao</a:t>
            </a:r>
            <a:r>
              <a:rPr lang="en-US" b="1" dirty="0" smtClean="0"/>
              <a:t> Jin et al. — </a:t>
            </a:r>
            <a:r>
              <a:rPr lang="en-US" b="1" i="1" dirty="0" err="1" smtClean="0"/>
              <a:t>FedML</a:t>
            </a:r>
            <a:r>
              <a:rPr lang="en-US" b="1" i="1" dirty="0" smtClean="0"/>
              <a:t>-HE: An Efficient </a:t>
            </a:r>
            <a:r>
              <a:rPr lang="en-US" b="1" i="1" dirty="0" err="1" smtClean="0"/>
              <a:t>Homomorphic</a:t>
            </a:r>
            <a:r>
              <a:rPr lang="en-US" b="1" i="1" dirty="0" smtClean="0"/>
              <a:t>-Encryption-Based Privacy-Preserving Federated Learning System</a:t>
            </a:r>
            <a:endParaRPr lang="en-US" b="1" dirty="0" smtClean="0"/>
          </a:p>
          <a:p>
            <a:pPr algn="just"/>
            <a:r>
              <a:rPr lang="en-US" b="1" dirty="0" smtClean="0"/>
              <a:t>Abstract:</a:t>
            </a:r>
            <a:r>
              <a:rPr lang="en-US" dirty="0" smtClean="0"/>
              <a:t> </a:t>
            </a:r>
            <a:r>
              <a:rPr lang="en-US" i="1" dirty="0" err="1" smtClean="0"/>
              <a:t>FedML</a:t>
            </a:r>
            <a:r>
              <a:rPr lang="en-US" i="1" dirty="0" smtClean="0"/>
              <a:t>-HE</a:t>
            </a:r>
            <a:r>
              <a:rPr lang="en-US" dirty="0" smtClean="0"/>
              <a:t> presents an efficient federated learning framework that applies </a:t>
            </a:r>
            <a:r>
              <a:rPr lang="en-US" b="1" dirty="0" err="1" smtClean="0"/>
              <a:t>homomorphic</a:t>
            </a:r>
            <a:r>
              <a:rPr lang="en-US" b="1" dirty="0" smtClean="0"/>
              <a:t> encryption (HE)</a:t>
            </a:r>
            <a:r>
              <a:rPr lang="en-US" dirty="0" smtClean="0"/>
              <a:t> selectively to model parameters to balance privacy and performance. By encrypting only sensitive parameters, the system drastically reduces both computational and communication overhead, making HE-based secure aggregation more practical for large-scale models such as ResNet-50 and BERT. The optimized architecture significantly lowers resource demands while preserving strong privacy guarantees, demonstrating that scalable, secure model training with HE is feasible in real-world scenarios.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algn="just"/>
            <a:r>
              <a:rPr lang="en-US" b="1" dirty="0" smtClean="0"/>
              <a:t>3. </a:t>
            </a:r>
            <a:r>
              <a:rPr lang="en-US" b="1" dirty="0" err="1" smtClean="0"/>
              <a:t>Zizhen</a:t>
            </a:r>
            <a:r>
              <a:rPr lang="en-US" b="1" dirty="0" smtClean="0"/>
              <a:t> Liu et al. — </a:t>
            </a:r>
            <a:r>
              <a:rPr lang="en-US" b="1" i="1" dirty="0" smtClean="0"/>
              <a:t>DHSA: Efficient Doubly </a:t>
            </a:r>
            <a:r>
              <a:rPr lang="en-US" b="1" i="1" dirty="0" err="1" smtClean="0"/>
              <a:t>Homomorphic</a:t>
            </a:r>
            <a:r>
              <a:rPr lang="en-US" b="1" i="1" dirty="0" smtClean="0"/>
              <a:t> Secure Aggregation for Cross-silo Federated Learning</a:t>
            </a:r>
            <a:endParaRPr lang="en-US" b="1" dirty="0" smtClean="0"/>
          </a:p>
          <a:p>
            <a:pPr algn="just"/>
            <a:r>
              <a:rPr lang="en-US" b="1" dirty="0" smtClean="0"/>
              <a:t>Abstract:</a:t>
            </a:r>
            <a:r>
              <a:rPr lang="en-US" dirty="0" smtClean="0"/>
              <a:t> This work introduces </a:t>
            </a:r>
            <a:r>
              <a:rPr lang="en-US" i="1" dirty="0" smtClean="0"/>
              <a:t>DHSA</a:t>
            </a:r>
            <a:r>
              <a:rPr lang="en-US" dirty="0" smtClean="0"/>
              <a:t>, a secure aggregation protocol tailored for </a:t>
            </a:r>
            <a:r>
              <a:rPr lang="en-US" b="1" dirty="0" smtClean="0"/>
              <a:t>cross-silo federated learning</a:t>
            </a:r>
            <a:r>
              <a:rPr lang="en-US" dirty="0" smtClean="0"/>
              <a:t> using </a:t>
            </a:r>
            <a:r>
              <a:rPr lang="en-US" b="1" dirty="0" smtClean="0"/>
              <a:t>multi-key </a:t>
            </a:r>
            <a:r>
              <a:rPr lang="en-US" b="1" dirty="0" err="1" smtClean="0"/>
              <a:t>homomorphic</a:t>
            </a:r>
            <a:r>
              <a:rPr lang="en-US" b="1" dirty="0" smtClean="0"/>
              <a:t> encryption (MKHE)</a:t>
            </a:r>
            <a:r>
              <a:rPr lang="en-US" dirty="0" smtClean="0"/>
              <a:t> combined with seed </a:t>
            </a:r>
            <a:r>
              <a:rPr lang="en-US" dirty="0" err="1" smtClean="0"/>
              <a:t>homomorphic</a:t>
            </a:r>
            <a:r>
              <a:rPr lang="en-US" dirty="0" smtClean="0"/>
              <a:t> pseudorandom generation. The scheme resists collusion by up to (N-2) participants without requiring a trusted third party and enhances both security and efficiency. By using </a:t>
            </a:r>
            <a:r>
              <a:rPr lang="en-US" dirty="0" err="1" smtClean="0"/>
              <a:t>homomorphic</a:t>
            </a:r>
            <a:r>
              <a:rPr lang="en-US" dirty="0" smtClean="0"/>
              <a:t> properties to streamline computation and reduce communication cost, the protocol achieves high performance suitable for privacy-sensitive institutional collaborations such as healthcare or finance. </a:t>
            </a:r>
          </a:p>
          <a:p>
            <a:pPr algn="just"/>
            <a:endParaRPr lang="en-US" dirty="0" smtClean="0"/>
          </a:p>
          <a:p>
            <a:endParaRPr lang="en-US" dirty="0" smtClean="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algn="just"/>
            <a:r>
              <a:rPr lang="en-US" b="1" dirty="0" smtClean="0"/>
              <a:t>4. </a:t>
            </a:r>
            <a:r>
              <a:rPr lang="en-US" b="1" dirty="0" err="1" smtClean="0"/>
              <a:t>Xue</a:t>
            </a:r>
            <a:r>
              <a:rPr lang="en-US" b="1" dirty="0" smtClean="0"/>
              <a:t> Yang et al. — </a:t>
            </a:r>
            <a:r>
              <a:rPr lang="en-US" b="1" i="1" dirty="0" smtClean="0"/>
              <a:t>An Efficient and Multi-private Key Secure Aggregation for Federated Learning</a:t>
            </a:r>
            <a:endParaRPr lang="en-US" b="1" dirty="0" smtClean="0"/>
          </a:p>
          <a:p>
            <a:pPr algn="just"/>
            <a:r>
              <a:rPr lang="en-US" b="1" dirty="0" smtClean="0"/>
              <a:t>Abstract:</a:t>
            </a:r>
            <a:r>
              <a:rPr lang="en-US" dirty="0" smtClean="0"/>
              <a:t> This paper proposes a novel secure aggregation scheme that overcomes common limitations of traditional </a:t>
            </a:r>
            <a:r>
              <a:rPr lang="en-US" dirty="0" err="1" smtClean="0"/>
              <a:t>homomorphic</a:t>
            </a:r>
            <a:r>
              <a:rPr lang="en-US" dirty="0" smtClean="0"/>
              <a:t> encryption or threshold secret sharing approaches. The </a:t>
            </a:r>
            <a:r>
              <a:rPr lang="en-US" b="1" dirty="0" smtClean="0"/>
              <a:t>multi-private key secure aggregation</a:t>
            </a:r>
            <a:r>
              <a:rPr lang="en-US" dirty="0" smtClean="0"/>
              <a:t> method uses customized </a:t>
            </a:r>
            <a:r>
              <a:rPr lang="en-US" dirty="0" err="1" smtClean="0"/>
              <a:t>ElGamal</a:t>
            </a:r>
            <a:r>
              <a:rPr lang="en-US" dirty="0" smtClean="0"/>
              <a:t> encryption to support </a:t>
            </a:r>
            <a:r>
              <a:rPr lang="en-US" dirty="0" err="1" smtClean="0"/>
              <a:t>homomorphic</a:t>
            </a:r>
            <a:r>
              <a:rPr lang="en-US" dirty="0" smtClean="0"/>
              <a:t> addition without relying on a trusted third party, while efficiently compressing high-dimensional model parameters for reduced encryption and communication cost. The protocol achieves semantic security for local gradients and strong robustness against client collusion or dropouts, with negligible impact on model accuracy compared to non-private FL.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algn="just"/>
            <a:r>
              <a:rPr lang="en-US" b="1" dirty="0" smtClean="0"/>
              <a:t>5. </a:t>
            </a:r>
            <a:r>
              <a:rPr lang="en-US" b="1" dirty="0" err="1" smtClean="0"/>
              <a:t>Shashi</a:t>
            </a:r>
            <a:r>
              <a:rPr lang="en-US" b="1" dirty="0" smtClean="0"/>
              <a:t> Raj K et al. — </a:t>
            </a:r>
            <a:r>
              <a:rPr lang="en-US" b="1" i="1" dirty="0" smtClean="0"/>
              <a:t>Federated Learning and Cryptography: A Secure Framework for </a:t>
            </a:r>
            <a:r>
              <a:rPr lang="en-US" b="1" i="1" dirty="0" err="1" smtClean="0"/>
              <a:t>IoT</a:t>
            </a:r>
            <a:r>
              <a:rPr lang="en-US" b="1" i="1" dirty="0" smtClean="0"/>
              <a:t> Data Privacy</a:t>
            </a:r>
            <a:endParaRPr lang="en-US" b="1" dirty="0" smtClean="0"/>
          </a:p>
          <a:p>
            <a:pPr algn="just"/>
            <a:r>
              <a:rPr lang="en-US" b="1" dirty="0" smtClean="0"/>
              <a:t>Abstract:</a:t>
            </a:r>
            <a:r>
              <a:rPr lang="en-US" dirty="0" smtClean="0"/>
              <a:t> This research develops a secure </a:t>
            </a:r>
            <a:r>
              <a:rPr lang="en-US" dirty="0" err="1" smtClean="0"/>
              <a:t>IoT</a:t>
            </a:r>
            <a:r>
              <a:rPr lang="en-US" dirty="0" smtClean="0"/>
              <a:t> framework that combines </a:t>
            </a:r>
            <a:r>
              <a:rPr lang="en-US" b="1" dirty="0" smtClean="0"/>
              <a:t>Federated Learning with cryptographic mechanisms</a:t>
            </a:r>
            <a:r>
              <a:rPr lang="en-US" dirty="0" smtClean="0"/>
              <a:t> such as additive </a:t>
            </a:r>
            <a:r>
              <a:rPr lang="en-US" dirty="0" err="1" smtClean="0"/>
              <a:t>homomorphic</a:t>
            </a:r>
            <a:r>
              <a:rPr lang="en-US" dirty="0" smtClean="0"/>
              <a:t> encryption and secure multi-party computation. The design enables confidential aggregation of model updates across resource-constrained </a:t>
            </a:r>
            <a:r>
              <a:rPr lang="en-US" dirty="0" err="1" smtClean="0"/>
              <a:t>IoT</a:t>
            </a:r>
            <a:r>
              <a:rPr lang="en-US" dirty="0" smtClean="0"/>
              <a:t> devices, maintaining data privacy while reducing communication and computational overhead. The approach is particularly suitable for heterogeneous </a:t>
            </a:r>
            <a:r>
              <a:rPr lang="en-US" dirty="0" err="1" smtClean="0"/>
              <a:t>IoT</a:t>
            </a:r>
            <a:r>
              <a:rPr lang="en-US" dirty="0" smtClean="0"/>
              <a:t> environments like smart cities and healthcare systems, where data privacy is a priority and device resources are limited. </a:t>
            </a:r>
          </a:p>
          <a:p>
            <a:endParaRPr lang="en-US" dirty="0" smtClean="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smtClean="0"/>
              <a:t> Future work:</a:t>
            </a:r>
            <a:endParaRPr lang="en-US" dirty="0"/>
          </a:p>
        </p:txBody>
      </p:sp>
      <p:sp>
        <p:nvSpPr>
          <p:cNvPr id="3" name="Content Placeholder 2"/>
          <p:cNvSpPr>
            <a:spLocks noGrp="1"/>
          </p:cNvSpPr>
          <p:nvPr>
            <p:ph idx="1"/>
          </p:nvPr>
        </p:nvSpPr>
        <p:spPr/>
        <p:txBody>
          <a:bodyPr>
            <a:normAutofit fontScale="55000" lnSpcReduction="20000"/>
          </a:bodyPr>
          <a:lstStyle/>
          <a:p>
            <a:pPr algn="just"/>
            <a:r>
              <a:rPr lang="en-US" dirty="0" smtClean="0"/>
              <a:t>The future of cryptographic techniques in federated learning is expected to focus on the development of </a:t>
            </a:r>
            <a:r>
              <a:rPr lang="en-US" b="1" dirty="0" smtClean="0"/>
              <a:t>lightweight and adaptive security mechanisms</a:t>
            </a:r>
            <a:r>
              <a:rPr lang="en-US" dirty="0" smtClean="0"/>
              <a:t> that can operate efficiently in large-scale and resource-constrained environments. </a:t>
            </a:r>
            <a:endParaRPr lang="en-US" dirty="0" smtClean="0"/>
          </a:p>
          <a:p>
            <a:pPr algn="just"/>
            <a:r>
              <a:rPr lang="en-US" dirty="0" smtClean="0"/>
              <a:t>Emerging </a:t>
            </a:r>
            <a:r>
              <a:rPr lang="en-US" dirty="0" smtClean="0"/>
              <a:t>research is likely to emphasize hybrid cryptographic frameworks that intelligently combine secure aggregation, </a:t>
            </a:r>
            <a:r>
              <a:rPr lang="en-US" dirty="0" err="1" smtClean="0"/>
              <a:t>homomorphic</a:t>
            </a:r>
            <a:r>
              <a:rPr lang="en-US" dirty="0" smtClean="0"/>
              <a:t> encryption, and differential privacy to balance privacy guarantees with computational efficiency. </a:t>
            </a:r>
            <a:endParaRPr lang="en-US" dirty="0" smtClean="0"/>
          </a:p>
          <a:p>
            <a:pPr algn="just"/>
            <a:r>
              <a:rPr lang="en-US" dirty="0" smtClean="0"/>
              <a:t>In </a:t>
            </a:r>
            <a:r>
              <a:rPr lang="en-US" dirty="0" smtClean="0"/>
              <a:t>addition, advances in hardware acceleration, edge computing, and secure enclaves are anticipated to reduce the performance overhead associated with complex cryptographic operations. </a:t>
            </a:r>
            <a:endParaRPr lang="en-US" dirty="0" smtClean="0"/>
          </a:p>
          <a:p>
            <a:pPr algn="just"/>
            <a:r>
              <a:rPr lang="en-US" dirty="0" smtClean="0"/>
              <a:t>Standardized </a:t>
            </a:r>
            <a:r>
              <a:rPr lang="en-US" dirty="0" smtClean="0"/>
              <a:t>evaluation benchmarks and threat models will also play a crucial role in enabling fair comparison and real-world deployment of secure federated learning systems.</a:t>
            </a:r>
          </a:p>
          <a:p>
            <a:pPr algn="just"/>
            <a:r>
              <a:rPr lang="en-US" dirty="0" smtClean="0"/>
              <a:t>Another important future direction lies in enhancing </a:t>
            </a:r>
            <a:r>
              <a:rPr lang="en-US" b="1" dirty="0" smtClean="0"/>
              <a:t>robustness, scalability, and trust</a:t>
            </a:r>
            <a:r>
              <a:rPr lang="en-US" dirty="0" smtClean="0"/>
              <a:t> in decentralized learning ecosystems. </a:t>
            </a:r>
            <a:endParaRPr lang="en-US" dirty="0" smtClean="0"/>
          </a:p>
          <a:p>
            <a:pPr algn="just"/>
            <a:r>
              <a:rPr lang="en-US" dirty="0" smtClean="0"/>
              <a:t>Integrating </a:t>
            </a:r>
            <a:r>
              <a:rPr lang="en-US" dirty="0" smtClean="0"/>
              <a:t>cryptographic techniques with </a:t>
            </a:r>
            <a:r>
              <a:rPr lang="en-US" dirty="0" err="1" smtClean="0"/>
              <a:t>blockchain</a:t>
            </a:r>
            <a:r>
              <a:rPr lang="en-US" dirty="0" smtClean="0"/>
              <a:t>, zero-knowledge proofs, and verifiable computation can improve transparency, </a:t>
            </a:r>
            <a:r>
              <a:rPr lang="en-US" dirty="0" err="1" smtClean="0"/>
              <a:t>auditability</a:t>
            </a:r>
            <a:r>
              <a:rPr lang="en-US" dirty="0" smtClean="0"/>
              <a:t>, and resistance to malicious participants. </a:t>
            </a:r>
          </a:p>
          <a:p>
            <a:pPr algn="just"/>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Reference:</a:t>
            </a:r>
            <a:endParaRPr lang="en-US" dirty="0"/>
          </a:p>
        </p:txBody>
      </p:sp>
      <p:sp>
        <p:nvSpPr>
          <p:cNvPr id="3" name="Content Placeholder 2"/>
          <p:cNvSpPr>
            <a:spLocks noGrp="1"/>
          </p:cNvSpPr>
          <p:nvPr>
            <p:ph idx="1"/>
          </p:nvPr>
        </p:nvSpPr>
        <p:spPr>
          <a:xfrm>
            <a:off x="457200" y="1143000"/>
            <a:ext cx="8229600" cy="4983163"/>
          </a:xfrm>
        </p:spPr>
        <p:txBody>
          <a:bodyPr>
            <a:normAutofit fontScale="85000" lnSpcReduction="10000"/>
          </a:bodyPr>
          <a:lstStyle/>
          <a:p>
            <a:pPr lvl="0" algn="just"/>
            <a:r>
              <a:rPr lang="en-US" sz="2400" b="1" dirty="0" err="1" smtClean="0"/>
              <a:t>Weizhao</a:t>
            </a:r>
            <a:r>
              <a:rPr lang="en-US" sz="2400" b="1" dirty="0" smtClean="0"/>
              <a:t> Jin, </a:t>
            </a:r>
            <a:r>
              <a:rPr lang="en-US" sz="2400" b="1" dirty="0" err="1" smtClean="0"/>
              <a:t>Yuhang</a:t>
            </a:r>
            <a:r>
              <a:rPr lang="en-US" sz="2400" b="1" dirty="0" smtClean="0"/>
              <a:t> Yao, </a:t>
            </a:r>
            <a:r>
              <a:rPr lang="en-US" sz="2400" b="1" dirty="0" err="1" smtClean="0"/>
              <a:t>Shanshan</a:t>
            </a:r>
            <a:r>
              <a:rPr lang="en-US" sz="2400" b="1" dirty="0" smtClean="0"/>
              <a:t> Han, </a:t>
            </a:r>
            <a:r>
              <a:rPr lang="en-US" sz="2400" b="1" dirty="0" err="1" smtClean="0"/>
              <a:t>Jiajun</a:t>
            </a:r>
            <a:r>
              <a:rPr lang="en-US" sz="2400" b="1" dirty="0" smtClean="0"/>
              <a:t> </a:t>
            </a:r>
            <a:r>
              <a:rPr lang="en-US" sz="2400" b="1" dirty="0" err="1" smtClean="0"/>
              <a:t>Gu</a:t>
            </a:r>
            <a:r>
              <a:rPr lang="en-US" sz="2400" b="1" dirty="0" smtClean="0"/>
              <a:t>, </a:t>
            </a:r>
            <a:r>
              <a:rPr lang="en-US" sz="2400" b="1" dirty="0" err="1" smtClean="0"/>
              <a:t>Carlee</a:t>
            </a:r>
            <a:r>
              <a:rPr lang="en-US" sz="2400" b="1" dirty="0" smtClean="0"/>
              <a:t> Joe-Wong, </a:t>
            </a:r>
            <a:r>
              <a:rPr lang="en-US" sz="2400" b="1" dirty="0" err="1" smtClean="0"/>
              <a:t>Srivatsan</a:t>
            </a:r>
            <a:r>
              <a:rPr lang="en-US" sz="2400" b="1" dirty="0" smtClean="0"/>
              <a:t> Ravi, </a:t>
            </a:r>
            <a:r>
              <a:rPr lang="en-US" sz="2400" b="1" dirty="0" err="1" smtClean="0"/>
              <a:t>Salman</a:t>
            </a:r>
            <a:r>
              <a:rPr lang="en-US" sz="2400" b="1" dirty="0" smtClean="0"/>
              <a:t> </a:t>
            </a:r>
            <a:r>
              <a:rPr lang="en-US" sz="2400" b="1" dirty="0" err="1" smtClean="0"/>
              <a:t>Avestimehr</a:t>
            </a:r>
            <a:r>
              <a:rPr lang="en-US" sz="2400" b="1" dirty="0" smtClean="0"/>
              <a:t> &amp; </a:t>
            </a:r>
            <a:r>
              <a:rPr lang="en-US" sz="2400" b="1" dirty="0" err="1" smtClean="0"/>
              <a:t>Chaoyang</a:t>
            </a:r>
            <a:r>
              <a:rPr lang="en-US" sz="2400" b="1" dirty="0" smtClean="0"/>
              <a:t> He</a:t>
            </a:r>
            <a:r>
              <a:rPr lang="en-US" sz="2400" dirty="0" smtClean="0"/>
              <a:t> (2023) — </a:t>
            </a:r>
            <a:r>
              <a:rPr lang="en-US" sz="2400" i="1" dirty="0" err="1" smtClean="0"/>
              <a:t>FedML</a:t>
            </a:r>
            <a:r>
              <a:rPr lang="en-US" sz="2400" i="1" dirty="0" smtClean="0"/>
              <a:t>-HE: An Efficient </a:t>
            </a:r>
            <a:r>
              <a:rPr lang="en-US" sz="2400" i="1" dirty="0" err="1" smtClean="0"/>
              <a:t>Homomorphic</a:t>
            </a:r>
            <a:r>
              <a:rPr lang="en-US" sz="2400" i="1" dirty="0" smtClean="0"/>
              <a:t>-Encryption-Based Privacy-Preserving Federated Learning System</a:t>
            </a:r>
            <a:r>
              <a:rPr lang="en-US" sz="2400" dirty="0" smtClean="0"/>
              <a:t> — proposes selective encryption to balance HE privacy with performance in FL. </a:t>
            </a:r>
          </a:p>
          <a:p>
            <a:pPr lvl="0" algn="just"/>
            <a:r>
              <a:rPr lang="en-US" sz="2400" b="1" dirty="0" err="1" smtClean="0"/>
              <a:t>Zizhen</a:t>
            </a:r>
            <a:r>
              <a:rPr lang="en-US" sz="2400" b="1" dirty="0" smtClean="0"/>
              <a:t> Liu, Si Chen, Jing Ye, </a:t>
            </a:r>
            <a:r>
              <a:rPr lang="en-US" sz="2400" b="1" dirty="0" err="1" smtClean="0"/>
              <a:t>Junfeng</a:t>
            </a:r>
            <a:r>
              <a:rPr lang="en-US" sz="2400" b="1" dirty="0" smtClean="0"/>
              <a:t> Fan, </a:t>
            </a:r>
            <a:r>
              <a:rPr lang="en-US" sz="2400" b="1" dirty="0" err="1" smtClean="0"/>
              <a:t>Huawei</a:t>
            </a:r>
            <a:r>
              <a:rPr lang="en-US" sz="2400" b="1" dirty="0" smtClean="0"/>
              <a:t> Li &amp; </a:t>
            </a:r>
            <a:r>
              <a:rPr lang="en-US" sz="2400" b="1" dirty="0" err="1" smtClean="0"/>
              <a:t>Xiaowei</a:t>
            </a:r>
            <a:r>
              <a:rPr lang="en-US" sz="2400" b="1" dirty="0" smtClean="0"/>
              <a:t> Li</a:t>
            </a:r>
            <a:r>
              <a:rPr lang="en-US" sz="2400" dirty="0" smtClean="0"/>
              <a:t> (2022) — </a:t>
            </a:r>
            <a:r>
              <a:rPr lang="en-US" sz="2400" i="1" dirty="0" smtClean="0"/>
              <a:t>DHSA: Efficient Doubly </a:t>
            </a:r>
            <a:r>
              <a:rPr lang="en-US" sz="2400" i="1" dirty="0" err="1" smtClean="0"/>
              <a:t>Homomorphic</a:t>
            </a:r>
            <a:r>
              <a:rPr lang="en-US" sz="2400" i="1" dirty="0" smtClean="0"/>
              <a:t> Secure Aggregation for Cross-silo Federated Learning</a:t>
            </a:r>
            <a:r>
              <a:rPr lang="en-US" sz="2400" dirty="0" smtClean="0"/>
              <a:t> — introduces doubly </a:t>
            </a:r>
            <a:r>
              <a:rPr lang="en-US" sz="2400" dirty="0" err="1" smtClean="0"/>
              <a:t>homomorphic</a:t>
            </a:r>
            <a:r>
              <a:rPr lang="en-US" sz="2400" dirty="0" smtClean="0"/>
              <a:t> secure aggregation with multi-key HE for collusion-resistant FL. </a:t>
            </a:r>
          </a:p>
          <a:p>
            <a:pPr lvl="0" algn="just"/>
            <a:r>
              <a:rPr lang="en-US" sz="2400" b="1" dirty="0" err="1" smtClean="0"/>
              <a:t>Xue</a:t>
            </a:r>
            <a:r>
              <a:rPr lang="en-US" sz="2400" b="1" dirty="0" smtClean="0"/>
              <a:t> Yang, </a:t>
            </a:r>
            <a:r>
              <a:rPr lang="en-US" sz="2400" b="1" dirty="0" err="1" smtClean="0"/>
              <a:t>Zifeng</a:t>
            </a:r>
            <a:r>
              <a:rPr lang="en-US" sz="2400" b="1" dirty="0" smtClean="0"/>
              <a:t> Liu, </a:t>
            </a:r>
            <a:r>
              <a:rPr lang="en-US" sz="2400" b="1" dirty="0" err="1" smtClean="0"/>
              <a:t>Xiaohu</a:t>
            </a:r>
            <a:r>
              <a:rPr lang="en-US" sz="2400" b="1" dirty="0" smtClean="0"/>
              <a:t> Tang, </a:t>
            </a:r>
            <a:r>
              <a:rPr lang="en-US" sz="2400" b="1" dirty="0" err="1" smtClean="0"/>
              <a:t>Rongxing</a:t>
            </a:r>
            <a:r>
              <a:rPr lang="en-US" sz="2400" b="1" dirty="0" smtClean="0"/>
              <a:t> Lu &amp; Bo Liu</a:t>
            </a:r>
            <a:r>
              <a:rPr lang="en-US" sz="2400" dirty="0" smtClean="0"/>
              <a:t> (2023) — </a:t>
            </a:r>
            <a:r>
              <a:rPr lang="en-US" sz="2400" i="1" dirty="0" smtClean="0"/>
              <a:t>An Efficient and Multi-private Key Secure Aggregation for Federated Learning</a:t>
            </a:r>
            <a:r>
              <a:rPr lang="en-US" sz="2400" dirty="0" smtClean="0"/>
              <a:t> — presents an </a:t>
            </a:r>
            <a:r>
              <a:rPr lang="en-US" sz="2400" dirty="0" err="1" smtClean="0"/>
              <a:t>ElGamal</a:t>
            </a:r>
            <a:r>
              <a:rPr lang="en-US" sz="2400" dirty="0" smtClean="0"/>
              <a:t>-based secure aggregation that avoids trusted third parties. </a:t>
            </a:r>
          </a:p>
          <a:p>
            <a:pPr lvl="0" algn="just"/>
            <a:r>
              <a:rPr lang="en-US" sz="2400" b="1" dirty="0" err="1" smtClean="0"/>
              <a:t>Jiaqi</a:t>
            </a:r>
            <a:r>
              <a:rPr lang="en-US" sz="2400" b="1" dirty="0" smtClean="0"/>
              <a:t> </a:t>
            </a:r>
            <a:r>
              <a:rPr lang="en-US" sz="2400" b="1" dirty="0" err="1" smtClean="0"/>
              <a:t>Xue</a:t>
            </a:r>
            <a:r>
              <a:rPr lang="en-US" sz="2400" b="1" dirty="0" smtClean="0"/>
              <a:t>, </a:t>
            </a:r>
            <a:r>
              <a:rPr lang="en-US" sz="2400" b="1" dirty="0" err="1" smtClean="0"/>
              <a:t>Mayank</a:t>
            </a:r>
            <a:r>
              <a:rPr lang="en-US" sz="2400" b="1" dirty="0" smtClean="0"/>
              <a:t> Kumar, </a:t>
            </a:r>
            <a:r>
              <a:rPr lang="en-US" sz="2400" b="1" dirty="0" err="1" smtClean="0"/>
              <a:t>Yuzhang</a:t>
            </a:r>
            <a:r>
              <a:rPr lang="en-US" sz="2400" b="1" dirty="0" smtClean="0"/>
              <a:t> Shang, </a:t>
            </a:r>
            <a:r>
              <a:rPr lang="en-US" sz="2400" b="1" dirty="0" err="1" smtClean="0"/>
              <a:t>Shangqian</a:t>
            </a:r>
            <a:r>
              <a:rPr lang="en-US" sz="2400" b="1" dirty="0" smtClean="0"/>
              <a:t> </a:t>
            </a:r>
            <a:r>
              <a:rPr lang="en-US" sz="2400" b="1" dirty="0" err="1" smtClean="0"/>
              <a:t>Gao</a:t>
            </a:r>
            <a:r>
              <a:rPr lang="en-US" sz="2400" b="1" dirty="0" smtClean="0"/>
              <a:t>, </a:t>
            </a:r>
            <a:r>
              <a:rPr lang="en-US" sz="2400" b="1" dirty="0" err="1" smtClean="0"/>
              <a:t>Rui</a:t>
            </a:r>
            <a:r>
              <a:rPr lang="en-US" sz="2400" b="1" dirty="0" smtClean="0"/>
              <a:t> </a:t>
            </a:r>
            <a:r>
              <a:rPr lang="en-US" sz="2400" b="1" dirty="0" err="1" smtClean="0"/>
              <a:t>Ning</a:t>
            </a:r>
            <a:r>
              <a:rPr lang="en-US" sz="2400" b="1" dirty="0" smtClean="0"/>
              <a:t>, </a:t>
            </a:r>
            <a:r>
              <a:rPr lang="en-US" sz="2400" b="1" dirty="0" err="1" smtClean="0"/>
              <a:t>Mengxin</a:t>
            </a:r>
            <a:r>
              <a:rPr lang="en-US" sz="2400" b="1" dirty="0" smtClean="0"/>
              <a:t> </a:t>
            </a:r>
            <a:r>
              <a:rPr lang="en-US" sz="2400" b="1" dirty="0" err="1" smtClean="0"/>
              <a:t>Zheng</a:t>
            </a:r>
            <a:r>
              <a:rPr lang="en-US" sz="2400" b="1" dirty="0" smtClean="0"/>
              <a:t>, </a:t>
            </a:r>
            <a:r>
              <a:rPr lang="en-US" sz="2400" b="1" dirty="0" err="1" smtClean="0"/>
              <a:t>Xiaoqian</a:t>
            </a:r>
            <a:r>
              <a:rPr lang="en-US" sz="2400" b="1" dirty="0" smtClean="0"/>
              <a:t> Jiang, </a:t>
            </a:r>
            <a:r>
              <a:rPr lang="en-US" sz="2400" b="1" dirty="0" err="1" smtClean="0"/>
              <a:t>Qian</a:t>
            </a:r>
            <a:r>
              <a:rPr lang="en-US" sz="2400" b="1" dirty="0" smtClean="0"/>
              <a:t> Lou</a:t>
            </a:r>
            <a:r>
              <a:rPr lang="en-US" sz="2400" dirty="0" smtClean="0"/>
              <a:t> (2025) — </a:t>
            </a:r>
            <a:r>
              <a:rPr lang="en-US" sz="2400" i="1" dirty="0" err="1" smtClean="0"/>
              <a:t>DictPFL</a:t>
            </a:r>
            <a:r>
              <a:rPr lang="en-US" sz="2400" i="1" dirty="0" smtClean="0"/>
              <a:t>: Efficient and Private Federated Learning on Encrypted Gradients</a:t>
            </a:r>
            <a:r>
              <a:rPr lang="en-US" sz="2400" dirty="0" smtClean="0"/>
              <a:t> — proposes a gradient encryption strategy reducing communication overhead in HE-based FL. </a:t>
            </a:r>
          </a:p>
          <a:p>
            <a:pPr algn="just"/>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lvl="0" algn="just"/>
            <a:r>
              <a:rPr lang="en-US" sz="2000" b="1" dirty="0" err="1" smtClean="0"/>
              <a:t>Runhua</a:t>
            </a:r>
            <a:r>
              <a:rPr lang="en-US" sz="2000" b="1" dirty="0" smtClean="0"/>
              <a:t> </a:t>
            </a:r>
            <a:r>
              <a:rPr lang="en-US" sz="2000" b="1" dirty="0" err="1" smtClean="0"/>
              <a:t>Xu</a:t>
            </a:r>
            <a:r>
              <a:rPr lang="en-US" sz="2000" b="1" dirty="0" smtClean="0"/>
              <a:t>, </a:t>
            </a:r>
            <a:r>
              <a:rPr lang="en-US" sz="2000" b="1" dirty="0" err="1" smtClean="0"/>
              <a:t>Shiqi</a:t>
            </a:r>
            <a:r>
              <a:rPr lang="en-US" sz="2000" b="1" dirty="0" smtClean="0"/>
              <a:t> </a:t>
            </a:r>
            <a:r>
              <a:rPr lang="en-US" sz="2000" b="1" dirty="0" err="1" smtClean="0"/>
              <a:t>Gao</a:t>
            </a:r>
            <a:r>
              <a:rPr lang="en-US" sz="2000" b="1" dirty="0" smtClean="0"/>
              <a:t>, Chao Li, James Joshi &amp; </a:t>
            </a:r>
            <a:r>
              <a:rPr lang="en-US" sz="2000" b="1" dirty="0" err="1" smtClean="0"/>
              <a:t>Jianxin</a:t>
            </a:r>
            <a:r>
              <a:rPr lang="en-US" sz="2000" b="1" dirty="0" smtClean="0"/>
              <a:t> Li</a:t>
            </a:r>
            <a:r>
              <a:rPr lang="en-US" sz="2000" dirty="0" smtClean="0"/>
              <a:t> (2025) — </a:t>
            </a:r>
            <a:r>
              <a:rPr lang="en-US" sz="2000" i="1" dirty="0" smtClean="0"/>
              <a:t>Dual Defense: Enhancing Privacy and Mitigating Poisoning Attacks in Federated Learning</a:t>
            </a:r>
            <a:r>
              <a:rPr lang="en-US" sz="2000" dirty="0" smtClean="0"/>
              <a:t> — integrates FHE with anomaly detection to defend against poisoning and privacy attacks. </a:t>
            </a:r>
          </a:p>
          <a:p>
            <a:pPr lvl="0" algn="just"/>
            <a:r>
              <a:rPr lang="en-US" sz="2000" b="1" dirty="0" err="1" smtClean="0"/>
              <a:t>Runhua</a:t>
            </a:r>
            <a:r>
              <a:rPr lang="en-US" sz="2000" b="1" dirty="0" smtClean="0"/>
              <a:t> </a:t>
            </a:r>
            <a:r>
              <a:rPr lang="en-US" sz="2000" b="1" dirty="0" err="1" smtClean="0"/>
              <a:t>Xu</a:t>
            </a:r>
            <a:r>
              <a:rPr lang="en-US" sz="2000" b="1" dirty="0" smtClean="0"/>
              <a:t>, Bo Li, Chao Li, James B. D. Joshi, </a:t>
            </a:r>
            <a:r>
              <a:rPr lang="en-US" sz="2000" b="1" dirty="0" err="1" smtClean="0"/>
              <a:t>Shuai</a:t>
            </a:r>
            <a:r>
              <a:rPr lang="en-US" sz="2000" b="1" dirty="0" smtClean="0"/>
              <a:t> Ma &amp; </a:t>
            </a:r>
            <a:r>
              <a:rPr lang="en-US" sz="2000" b="1" dirty="0" err="1" smtClean="0"/>
              <a:t>Jianxin</a:t>
            </a:r>
            <a:r>
              <a:rPr lang="en-US" sz="2000" b="1" dirty="0" smtClean="0"/>
              <a:t> Li</a:t>
            </a:r>
            <a:r>
              <a:rPr lang="en-US" sz="2000" dirty="0" smtClean="0"/>
              <a:t> (2025) — </a:t>
            </a:r>
            <a:r>
              <a:rPr lang="en-US" sz="2000" i="1" dirty="0" err="1" smtClean="0"/>
              <a:t>TAPFed</a:t>
            </a:r>
            <a:r>
              <a:rPr lang="en-US" sz="2000" i="1" dirty="0" smtClean="0"/>
              <a:t>: Threshold Secure Aggregation for Privacy-Preserving Federated Learning</a:t>
            </a:r>
            <a:r>
              <a:rPr lang="en-US" sz="2000" dirty="0" smtClean="0"/>
              <a:t> — introduces threshold functional encryption to protect against inference attacks. </a:t>
            </a:r>
          </a:p>
          <a:p>
            <a:pPr lvl="0" algn="just"/>
            <a:r>
              <a:rPr lang="en-US" sz="2000" b="1" dirty="0" err="1" smtClean="0"/>
              <a:t>Oana</a:t>
            </a:r>
            <a:r>
              <a:rPr lang="en-US" sz="2000" b="1" dirty="0" smtClean="0"/>
              <a:t> Stan, Vincent </a:t>
            </a:r>
            <a:r>
              <a:rPr lang="en-US" sz="2000" b="1" dirty="0" err="1" smtClean="0"/>
              <a:t>Thouvenot</a:t>
            </a:r>
            <a:r>
              <a:rPr lang="en-US" sz="2000" b="1" dirty="0" smtClean="0"/>
              <a:t>, </a:t>
            </a:r>
            <a:r>
              <a:rPr lang="en-US" sz="2000" b="1" dirty="0" err="1" smtClean="0"/>
              <a:t>Aymen</a:t>
            </a:r>
            <a:r>
              <a:rPr lang="en-US" sz="2000" b="1" dirty="0" smtClean="0"/>
              <a:t> </a:t>
            </a:r>
            <a:r>
              <a:rPr lang="en-US" sz="2000" b="1" dirty="0" err="1" smtClean="0"/>
              <a:t>Boudguiga</a:t>
            </a:r>
            <a:r>
              <a:rPr lang="en-US" sz="2000" b="1" dirty="0" smtClean="0"/>
              <a:t>, </a:t>
            </a:r>
            <a:r>
              <a:rPr lang="en-US" sz="2000" b="1" dirty="0" err="1" smtClean="0"/>
              <a:t>Katarzyna</a:t>
            </a:r>
            <a:r>
              <a:rPr lang="en-US" sz="2000" b="1" dirty="0" smtClean="0"/>
              <a:t> </a:t>
            </a:r>
            <a:r>
              <a:rPr lang="en-US" sz="2000" b="1" dirty="0" err="1" smtClean="0"/>
              <a:t>Kapusta</a:t>
            </a:r>
            <a:r>
              <a:rPr lang="en-US" sz="2000" b="1" dirty="0" smtClean="0"/>
              <a:t>, Martin </a:t>
            </a:r>
            <a:r>
              <a:rPr lang="en-US" sz="2000" b="1" dirty="0" err="1" smtClean="0"/>
              <a:t>Zuber</a:t>
            </a:r>
            <a:r>
              <a:rPr lang="en-US" sz="2000" b="1" dirty="0" smtClean="0"/>
              <a:t> &amp; </a:t>
            </a:r>
            <a:r>
              <a:rPr lang="en-US" sz="2000" b="1" dirty="0" err="1" smtClean="0"/>
              <a:t>Renaud</a:t>
            </a:r>
            <a:r>
              <a:rPr lang="en-US" sz="2000" b="1" dirty="0" smtClean="0"/>
              <a:t> </a:t>
            </a:r>
            <a:r>
              <a:rPr lang="en-US" sz="2000" b="1" dirty="0" err="1" smtClean="0"/>
              <a:t>Sirdey</a:t>
            </a:r>
            <a:r>
              <a:rPr lang="en-US" sz="2000" dirty="0" smtClean="0"/>
              <a:t> (2022) — </a:t>
            </a:r>
            <a:r>
              <a:rPr lang="en-US" sz="2000" i="1" dirty="0" smtClean="0"/>
              <a:t>A Secure Federated Learning: Analysis of Different Cryptographic Tools</a:t>
            </a:r>
            <a:r>
              <a:rPr lang="en-US" sz="2000" dirty="0" smtClean="0"/>
              <a:t> — analyzes DP, HE and MPC for secure FL. </a:t>
            </a:r>
          </a:p>
          <a:p>
            <a:pPr lvl="0" algn="just"/>
            <a:r>
              <a:rPr lang="en-US" sz="2000" b="1" dirty="0" err="1" smtClean="0"/>
              <a:t>Lakshmi</a:t>
            </a:r>
            <a:r>
              <a:rPr lang="en-US" sz="2000" b="1" dirty="0" smtClean="0"/>
              <a:t> S.V.S.S.</a:t>
            </a:r>
            <a:r>
              <a:rPr lang="en-US" sz="2000" dirty="0" smtClean="0"/>
              <a:t> (2026) — </a:t>
            </a:r>
            <a:r>
              <a:rPr lang="en-US" sz="2000" i="1" dirty="0" smtClean="0"/>
              <a:t>Privacy-Preserving Federated Machine Learning on </a:t>
            </a:r>
            <a:r>
              <a:rPr lang="en-US" sz="2000" i="1" dirty="0" err="1" smtClean="0"/>
              <a:t>Blockchain</a:t>
            </a:r>
            <a:r>
              <a:rPr lang="en-US" sz="2000" i="1" dirty="0" smtClean="0"/>
              <a:t>: A Comprehensive Review of </a:t>
            </a:r>
            <a:r>
              <a:rPr lang="en-US" sz="2000" i="1" dirty="0" err="1" smtClean="0"/>
              <a:t>Homomorphic</a:t>
            </a:r>
            <a:r>
              <a:rPr lang="en-US" sz="2000" i="1" dirty="0" smtClean="0"/>
              <a:t> Encryption Techniques</a:t>
            </a:r>
            <a:r>
              <a:rPr lang="en-US" sz="2000" dirty="0" smtClean="0"/>
              <a:t> — reviews HE integration with </a:t>
            </a:r>
            <a:r>
              <a:rPr lang="en-US" sz="2000" dirty="0" err="1" smtClean="0"/>
              <a:t>blockchain</a:t>
            </a:r>
            <a:r>
              <a:rPr lang="en-US" sz="2000" dirty="0" smtClean="0"/>
              <a:t> for FL. </a:t>
            </a:r>
          </a:p>
          <a:p>
            <a:endParaRPr lang="en-IN" sz="2200" dirty="0"/>
          </a:p>
        </p:txBody>
      </p:sp>
    </p:spTree>
    <p:extLst>
      <p:ext uri="{BB962C8B-B14F-4D97-AF65-F5344CB8AC3E}">
        <p14:creationId xmlns:p14="http://schemas.microsoft.com/office/powerpoint/2010/main" xmlns="" val="1809476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lvl="0" algn="just"/>
            <a:r>
              <a:rPr lang="en-US" sz="2400" b="1" dirty="0" err="1" smtClean="0"/>
              <a:t>Shashi</a:t>
            </a:r>
            <a:r>
              <a:rPr lang="en-US" sz="2400" b="1" dirty="0" smtClean="0"/>
              <a:t> Raj K, M. </a:t>
            </a:r>
            <a:r>
              <a:rPr lang="en-US" sz="2400" b="1" dirty="0" err="1" smtClean="0"/>
              <a:t>Manicka</a:t>
            </a:r>
            <a:r>
              <a:rPr lang="en-US" sz="2400" b="1" dirty="0" smtClean="0"/>
              <a:t> Raja, Ch G V N Prasad, </a:t>
            </a:r>
            <a:r>
              <a:rPr lang="en-US" sz="2400" b="1" dirty="0" err="1" smtClean="0"/>
              <a:t>Mallareddy</a:t>
            </a:r>
            <a:r>
              <a:rPr lang="en-US" sz="2400" b="1" dirty="0" smtClean="0"/>
              <a:t> </a:t>
            </a:r>
            <a:r>
              <a:rPr lang="en-US" sz="2400" b="1" dirty="0" err="1" smtClean="0"/>
              <a:t>Adudhodla</a:t>
            </a:r>
            <a:r>
              <a:rPr lang="en-US" sz="2400" b="1" dirty="0" smtClean="0"/>
              <a:t>, </a:t>
            </a:r>
            <a:r>
              <a:rPr lang="en-US" sz="2400" b="1" dirty="0" err="1" smtClean="0"/>
              <a:t>Shashank</a:t>
            </a:r>
            <a:r>
              <a:rPr lang="en-US" sz="2400" b="1" dirty="0" smtClean="0"/>
              <a:t> </a:t>
            </a:r>
            <a:r>
              <a:rPr lang="en-US" sz="2400" b="1" dirty="0" err="1" smtClean="0"/>
              <a:t>Shekhar</a:t>
            </a:r>
            <a:r>
              <a:rPr lang="en-US" sz="2400" b="1" dirty="0" smtClean="0"/>
              <a:t> </a:t>
            </a:r>
            <a:r>
              <a:rPr lang="en-US" sz="2400" b="1" dirty="0" err="1" smtClean="0"/>
              <a:t>Tiwari</a:t>
            </a:r>
            <a:r>
              <a:rPr lang="en-US" sz="2400" b="1" dirty="0" smtClean="0"/>
              <a:t> &amp; </a:t>
            </a:r>
            <a:r>
              <a:rPr lang="en-US" sz="2400" b="1" dirty="0" err="1" smtClean="0"/>
              <a:t>Gaganjot</a:t>
            </a:r>
            <a:r>
              <a:rPr lang="en-US" sz="2400" b="1" dirty="0" smtClean="0"/>
              <a:t> </a:t>
            </a:r>
            <a:r>
              <a:rPr lang="en-US" sz="2400" b="1" dirty="0" err="1" smtClean="0"/>
              <a:t>Kaur</a:t>
            </a:r>
            <a:r>
              <a:rPr lang="en-US" sz="2400" dirty="0" smtClean="0"/>
              <a:t> (2025) — </a:t>
            </a:r>
            <a:r>
              <a:rPr lang="en-US" sz="2400" i="1" dirty="0" smtClean="0"/>
              <a:t>Federated Learning and Cryptography: A Secure Framework for </a:t>
            </a:r>
            <a:r>
              <a:rPr lang="en-US" sz="2400" i="1" dirty="0" err="1" smtClean="0"/>
              <a:t>IoT</a:t>
            </a:r>
            <a:r>
              <a:rPr lang="en-US" sz="2400" i="1" dirty="0" smtClean="0"/>
              <a:t> Data Privacy</a:t>
            </a:r>
            <a:r>
              <a:rPr lang="en-US" sz="2400" dirty="0" smtClean="0"/>
              <a:t> — applies AHE and SMPC for federated </a:t>
            </a:r>
            <a:r>
              <a:rPr lang="en-US" sz="2400" dirty="0" err="1" smtClean="0"/>
              <a:t>IoT</a:t>
            </a:r>
            <a:r>
              <a:rPr lang="en-US" sz="2400" dirty="0" smtClean="0"/>
              <a:t> systems. </a:t>
            </a:r>
          </a:p>
          <a:p>
            <a:pPr lvl="0" algn="just"/>
            <a:r>
              <a:rPr lang="en-US" sz="2400" b="1" dirty="0" smtClean="0"/>
              <a:t>MDPI authors (2025)</a:t>
            </a:r>
            <a:r>
              <a:rPr lang="en-US" sz="2400" dirty="0" smtClean="0"/>
              <a:t> — </a:t>
            </a:r>
            <a:r>
              <a:rPr lang="en-US" sz="2400" i="1" dirty="0" smtClean="0"/>
              <a:t>A Review of Research on Secure Aggregation for Federated Learning</a:t>
            </a:r>
            <a:r>
              <a:rPr lang="en-US" sz="2400" dirty="0" smtClean="0"/>
              <a:t> — overviews HE, SMPC, DP and related aggregation techniques. </a:t>
            </a:r>
          </a:p>
          <a:p>
            <a:pPr lvl="0" algn="just"/>
            <a:r>
              <a:rPr lang="en-US" sz="2400" b="1" dirty="0" smtClean="0"/>
              <a:t>M </a:t>
            </a:r>
            <a:r>
              <a:rPr lang="en-US" sz="2400" b="1" dirty="0" err="1" smtClean="0"/>
              <a:t>Moshawrab</a:t>
            </a:r>
            <a:r>
              <a:rPr lang="en-US" sz="2400" b="1" dirty="0" smtClean="0"/>
              <a:t>, M </a:t>
            </a:r>
            <a:r>
              <a:rPr lang="en-US" sz="2400" b="1" dirty="0" err="1" smtClean="0"/>
              <a:t>Adda</a:t>
            </a:r>
            <a:r>
              <a:rPr lang="en-US" sz="2400" b="1" dirty="0" smtClean="0"/>
              <a:t>, A </a:t>
            </a:r>
            <a:r>
              <a:rPr lang="en-US" sz="2400" b="1" dirty="0" err="1" smtClean="0"/>
              <a:t>Bouzouane</a:t>
            </a:r>
            <a:r>
              <a:rPr lang="en-US" sz="2400" b="1" dirty="0" smtClean="0"/>
              <a:t>, H Ibrahim &amp; A </a:t>
            </a:r>
            <a:r>
              <a:rPr lang="en-US" sz="2400" b="1" dirty="0" err="1" smtClean="0"/>
              <a:t>Raad</a:t>
            </a:r>
            <a:r>
              <a:rPr lang="en-US" sz="2400" dirty="0" smtClean="0"/>
              <a:t> (2025) — </a:t>
            </a:r>
            <a:r>
              <a:rPr lang="en-US" sz="2400" i="1" dirty="0" smtClean="0"/>
              <a:t>HP_FLAP: </a:t>
            </a:r>
            <a:r>
              <a:rPr lang="en-US" sz="2400" i="1" dirty="0" err="1" smtClean="0"/>
              <a:t>Homomorphic</a:t>
            </a:r>
            <a:r>
              <a:rPr lang="en-US" sz="2400" i="1" dirty="0" smtClean="0"/>
              <a:t> and Polymorphic Federated Learning Aggregation of Parameters Framework</a:t>
            </a:r>
            <a:r>
              <a:rPr lang="en-US" sz="2400" dirty="0" smtClean="0"/>
              <a:t> — integrates HE and polymorphic encryption for inference-resistant FL. </a:t>
            </a:r>
          </a:p>
          <a:p>
            <a:pPr lvl="0" algn="just"/>
            <a:r>
              <a:rPr lang="en-US" sz="2400" b="1" dirty="0" smtClean="0"/>
              <a:t>B. Zhu et al.</a:t>
            </a:r>
            <a:r>
              <a:rPr lang="en-US" sz="2400" dirty="0" smtClean="0"/>
              <a:t> (2025) — </a:t>
            </a:r>
            <a:r>
              <a:rPr lang="en-US" sz="2400" i="1" dirty="0" smtClean="0"/>
              <a:t>A Privacy-Preserving Federated Learning Scheme with </a:t>
            </a:r>
            <a:r>
              <a:rPr lang="en-US" sz="2400" i="1" dirty="0" err="1" smtClean="0"/>
              <a:t>Homomorphic</a:t>
            </a:r>
            <a:r>
              <a:rPr lang="en-US" sz="2400" i="1" dirty="0" smtClean="0"/>
              <a:t> Encryption</a:t>
            </a:r>
            <a:r>
              <a:rPr lang="en-US" sz="2400" dirty="0" smtClean="0"/>
              <a:t> — describes HE-based modules for secure learning and aggregation in distributed environments. </a:t>
            </a:r>
          </a:p>
          <a:p>
            <a:endParaRPr lang="en-IN" sz="2200" dirty="0"/>
          </a:p>
        </p:txBody>
      </p:sp>
    </p:spTree>
    <p:extLst>
      <p:ext uri="{BB962C8B-B14F-4D97-AF65-F5344CB8AC3E}">
        <p14:creationId xmlns:p14="http://schemas.microsoft.com/office/powerpoint/2010/main" xmlns="" val="76145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lvl="0" algn="just"/>
            <a:r>
              <a:rPr lang="en-US" sz="2000" b="1" dirty="0" smtClean="0"/>
              <a:t>X authors (2024)</a:t>
            </a:r>
            <a:r>
              <a:rPr lang="en-US" sz="2000" dirty="0" smtClean="0"/>
              <a:t> — </a:t>
            </a:r>
            <a:r>
              <a:rPr lang="en-US" sz="2000" i="1" dirty="0" smtClean="0"/>
              <a:t>Secure and Flexible Privacy-Preserving Federated Learning with Multi-Key FHE</a:t>
            </a:r>
            <a:r>
              <a:rPr lang="en-US" sz="2000" dirty="0" smtClean="0"/>
              <a:t> — proposes an </a:t>
            </a:r>
            <a:r>
              <a:rPr lang="en-US" sz="2000" dirty="0" err="1" smtClean="0"/>
              <a:t>mMFHE</a:t>
            </a:r>
            <a:r>
              <a:rPr lang="en-US" sz="2000" dirty="0" smtClean="0"/>
              <a:t> scheme for secure multi-party FL. </a:t>
            </a:r>
          </a:p>
          <a:p>
            <a:pPr lvl="0" algn="just"/>
            <a:r>
              <a:rPr lang="en-US" sz="2000" b="1" dirty="0" smtClean="0"/>
              <a:t>Survey: Security Strategies in Federated Learning</a:t>
            </a:r>
            <a:r>
              <a:rPr lang="en-US" sz="2000" dirty="0" smtClean="0"/>
              <a:t> (2024) — </a:t>
            </a:r>
            <a:r>
              <a:rPr lang="en-US" sz="2000" i="1" dirty="0" smtClean="0"/>
              <a:t>A Survey of Security Strategies in Federated Learning: Defending Models, Data, and Privacy</a:t>
            </a:r>
            <a:r>
              <a:rPr lang="en-US" sz="2000" dirty="0" smtClean="0"/>
              <a:t> — covers cryptographic defenses, </a:t>
            </a:r>
            <a:r>
              <a:rPr lang="en-US" sz="2000" dirty="0" err="1" smtClean="0"/>
              <a:t>blockchain</a:t>
            </a:r>
            <a:r>
              <a:rPr lang="en-US" sz="2000" dirty="0" smtClean="0"/>
              <a:t>, DP, and attack mitigation. </a:t>
            </a:r>
          </a:p>
          <a:p>
            <a:pPr lvl="0" algn="just"/>
            <a:r>
              <a:rPr lang="en-US" sz="2000" b="1" dirty="0" smtClean="0"/>
              <a:t>Federated Learning for 6G-Enabled Secure Communication Systems</a:t>
            </a:r>
            <a:r>
              <a:rPr lang="en-US" sz="2000" dirty="0" smtClean="0"/>
              <a:t> (2023) — includes discussion on secure aggregation and HE/MPC techniques used for privacy and communication efficiency in FL.</a:t>
            </a:r>
          </a:p>
          <a:p>
            <a:endParaRPr lang="en-IN" sz="2200" dirty="0"/>
          </a:p>
        </p:txBody>
      </p:sp>
    </p:spTree>
    <p:extLst>
      <p:ext uri="{BB962C8B-B14F-4D97-AF65-F5344CB8AC3E}">
        <p14:creationId xmlns:p14="http://schemas.microsoft.com/office/powerpoint/2010/main" xmlns="" val="30040302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Conclusion:</a:t>
            </a:r>
            <a:endParaRPr lang="en-US" dirty="0"/>
          </a:p>
        </p:txBody>
      </p:sp>
      <p:sp>
        <p:nvSpPr>
          <p:cNvPr id="3" name="Content Placeholder 2"/>
          <p:cNvSpPr>
            <a:spLocks noGrp="1"/>
          </p:cNvSpPr>
          <p:nvPr>
            <p:ph idx="1"/>
          </p:nvPr>
        </p:nvSpPr>
        <p:spPr>
          <a:xfrm>
            <a:off x="457200" y="1143000"/>
            <a:ext cx="8229600" cy="4983163"/>
          </a:xfrm>
        </p:spPr>
        <p:txBody>
          <a:bodyPr>
            <a:normAutofit fontScale="70000" lnSpcReduction="20000"/>
          </a:bodyPr>
          <a:lstStyle/>
          <a:p>
            <a:pPr algn="just"/>
            <a:r>
              <a:rPr lang="en-US" sz="2400" dirty="0" smtClean="0"/>
              <a:t>A comprehensive review of cryptographic techniques applied in federated learning to ensure secure and privacy-preserving data collaboration. </a:t>
            </a:r>
            <a:endParaRPr lang="en-US" sz="2400" smtClean="0"/>
          </a:p>
          <a:p>
            <a:pPr algn="just"/>
            <a:r>
              <a:rPr lang="en-US" sz="2400" smtClean="0"/>
              <a:t>By </a:t>
            </a:r>
            <a:r>
              <a:rPr lang="en-US" sz="2400" dirty="0" smtClean="0"/>
              <a:t>systematically analyzing methods such as secure aggregation, </a:t>
            </a:r>
            <a:r>
              <a:rPr lang="en-US" sz="2400" dirty="0" err="1" smtClean="0"/>
              <a:t>homomorphic</a:t>
            </a:r>
            <a:r>
              <a:rPr lang="en-US" sz="2400" dirty="0" smtClean="0"/>
              <a:t> encryption, secure multiparty computation, differential privacy, and hybrid cryptographic frameworks, the review highlighted how these techniques address key security challenges including data leakage, inference attacks, and malicious model manipulation. </a:t>
            </a:r>
            <a:endParaRPr lang="en-US" sz="2400" dirty="0" smtClean="0"/>
          </a:p>
          <a:p>
            <a:pPr algn="just"/>
            <a:r>
              <a:rPr lang="en-US" sz="2400" dirty="0" smtClean="0"/>
              <a:t>The </a:t>
            </a:r>
            <a:r>
              <a:rPr lang="en-US" sz="2400" dirty="0" smtClean="0"/>
              <a:t>comparative analysis demonstrated that while cryptographic mechanisms significantly enhance confidentiality, integrity, and trust in federated learning systems, they also introduce trade-offs related to computational complexity, communication overhead, and scalability. </a:t>
            </a:r>
            <a:endParaRPr lang="en-US" sz="2400" dirty="0" smtClean="0"/>
          </a:p>
          <a:p>
            <a:pPr algn="just"/>
            <a:r>
              <a:rPr lang="en-US" sz="2400" dirty="0" smtClean="0"/>
              <a:t>The </a:t>
            </a:r>
            <a:r>
              <a:rPr lang="en-US" sz="2400" dirty="0" smtClean="0"/>
              <a:t>review emphasizes that no single cryptographic technique can fully satisfy all security and performance requirements of federated learning. </a:t>
            </a:r>
            <a:endParaRPr lang="en-US" sz="2400" dirty="0" smtClean="0"/>
          </a:p>
          <a:p>
            <a:pPr algn="just"/>
            <a:r>
              <a:rPr lang="en-US" sz="2400" dirty="0" smtClean="0"/>
              <a:t>Effective </a:t>
            </a:r>
            <a:r>
              <a:rPr lang="en-US" sz="2400" dirty="0" smtClean="0"/>
              <a:t>secure federated learning systems require carefully designed hybrid approaches that balance privacy guarantees with efficiency and practicality. </a:t>
            </a:r>
            <a:endParaRPr lang="en-US" sz="2400" dirty="0" smtClean="0"/>
          </a:p>
          <a:p>
            <a:pPr algn="just"/>
            <a:r>
              <a:rPr lang="en-US" sz="2400" dirty="0" smtClean="0"/>
              <a:t>By </a:t>
            </a:r>
            <a:r>
              <a:rPr lang="en-US" sz="2400" dirty="0" smtClean="0"/>
              <a:t>identifying existing limitations, research gaps, and emerging trends, this work provides valuable insights for researchers and practitioners aiming to develop robust, scalable, and regulation-compliant federated learning solutions. </a:t>
            </a:r>
            <a:endParaRPr lang="en-US" sz="2400" dirty="0" smtClean="0"/>
          </a:p>
          <a:p>
            <a:pPr algn="just"/>
            <a:r>
              <a:rPr lang="en-US" sz="2400" dirty="0" smtClean="0"/>
              <a:t>The </a:t>
            </a:r>
            <a:r>
              <a:rPr lang="en-US" sz="2400" dirty="0" smtClean="0"/>
              <a:t>findings of this review serve as a foundation for future advancements in secure distributed machine learning and trustworthy collaborative intelligence.</a:t>
            </a:r>
          </a:p>
          <a:p>
            <a:pPr algn="just"/>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3358</Words>
  <Application>Microsoft Office PowerPoint</Application>
  <PresentationFormat>On-screen Show (4:3)</PresentationFormat>
  <Paragraphs>121</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A Comprehensive Review Of Cryptographic Techniques In Federated Learning For Secure Data</vt:lpstr>
      <vt:lpstr>Abstract</vt:lpstr>
      <vt:lpstr>Introduction</vt:lpstr>
      <vt:lpstr>Slide 4</vt:lpstr>
      <vt:lpstr>Slide 5</vt:lpstr>
      <vt:lpstr>Existing System:</vt:lpstr>
      <vt:lpstr>Proposed System:</vt:lpstr>
      <vt:lpstr>Disadvantage:</vt:lpstr>
      <vt:lpstr>Advantage:</vt:lpstr>
      <vt:lpstr>Software Requirements:</vt:lpstr>
      <vt:lpstr>Slide 11</vt:lpstr>
      <vt:lpstr>Module Description:</vt:lpstr>
      <vt:lpstr>Slide 13</vt:lpstr>
      <vt:lpstr>Slide 14</vt:lpstr>
      <vt:lpstr>Algorithm Used:</vt:lpstr>
      <vt:lpstr>Literature survey:</vt:lpstr>
      <vt:lpstr>Slide 17</vt:lpstr>
      <vt:lpstr>Slide 18</vt:lpstr>
      <vt:lpstr>Slide 19</vt:lpstr>
      <vt:lpstr>Slide 20</vt:lpstr>
      <vt:lpstr> Future work:</vt:lpstr>
      <vt:lpstr>Reference:</vt:lpstr>
      <vt:lpstr>Slide 23</vt:lpstr>
      <vt:lpstr>Slide 24</vt:lpstr>
      <vt:lpstr>Slide 25</vt:lpstr>
      <vt:lpstr>Conclusion:</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OKOK PROJECTS</dc:creator>
  <cp:lastModifiedBy>Windows User</cp:lastModifiedBy>
  <cp:revision>19</cp:revision>
  <dcterms:created xsi:type="dcterms:W3CDTF">2006-08-16T00:00:00Z</dcterms:created>
  <dcterms:modified xsi:type="dcterms:W3CDTF">2026-02-04T14:56:50Z</dcterms:modified>
</cp:coreProperties>
</file>